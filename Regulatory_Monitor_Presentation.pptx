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926f06abfc465d" /><Relationship Type="http://schemas.openxmlformats.org/officeDocument/2006/relationships/extended-properties" Target="/docProps/app.xml" Id="R125780a86d26416e" /><Relationship Type="http://schemas.openxmlformats.org/officeDocument/2006/relationships/officeDocument" Target="/ppt/presentation.xml" Id="Rff8365f44da54382" /></Relationships>
</file>

<file path=ppt/presentation.xml><?xml version="1.0" encoding="utf-8"?>
<p:presentation xmlns:p="http://schemas.openxmlformats.org/presentationml/2006/main">
  <p:sldMasterIdLst>
    <p:sldMasterId xmlns:r="http://schemas.openxmlformats.org/officeDocument/2006/relationships" id="2147483648" r:id="Rab2a4436690f471f"/>
  </p:sldMasterIdLst>
  <p:notesMasterIdLst>
    <p:notesMasterId xmlns:r="http://schemas.openxmlformats.org/officeDocument/2006/relationships" r:id="R75355804d5434c5e"/>
  </p:notesMasterIdLst>
  <p:sldIdLst>
    <p:sldId xmlns:r="http://schemas.openxmlformats.org/officeDocument/2006/relationships" id="256" r:id="R3f7c35d359d74c5f"/>
    <p:sldId xmlns:r="http://schemas.openxmlformats.org/officeDocument/2006/relationships" id="257" r:id="R81b24f2a4c734db8"/>
    <p:sldId xmlns:r="http://schemas.openxmlformats.org/officeDocument/2006/relationships" id="258" r:id="R8e7f3492374e4939"/>
    <p:sldId xmlns:r="http://schemas.openxmlformats.org/officeDocument/2006/relationships" id="259" r:id="R960c6438ec9c425e"/>
    <p:sldId xmlns:r="http://schemas.openxmlformats.org/officeDocument/2006/relationships" id="260" r:id="R72f6306d0f734760"/>
    <p:sldId xmlns:r="http://schemas.openxmlformats.org/officeDocument/2006/relationships" id="261" r:id="R32fda69dff274b72"/>
    <p:sldId xmlns:r="http://schemas.openxmlformats.org/officeDocument/2006/relationships" id="262" r:id="Rd8c45551a6a64af0"/>
    <p:sldId xmlns:r="http://schemas.openxmlformats.org/officeDocument/2006/relationships" id="263" r:id="Rab20b97ae6504ab3"/>
    <p:sldId xmlns:r="http://schemas.openxmlformats.org/officeDocument/2006/relationships" id="264" r:id="R9bd5a4ea3458463e"/>
    <p:sldId xmlns:r="http://schemas.openxmlformats.org/officeDocument/2006/relationships" id="265" r:id="R6e22dbe3b24d46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00f69040b64b38" /><Relationship Type="http://schemas.openxmlformats.org/officeDocument/2006/relationships/slideMaster" Target="/ppt/slideMasters/slideMaster1.xml" Id="Rab2a4436690f471f" /><Relationship Type="http://schemas.openxmlformats.org/officeDocument/2006/relationships/notesMaster" Target="/ppt/notesMasters/notesMaster1.xml" Id="R75355804d5434c5e" /><Relationship Type="http://schemas.openxmlformats.org/officeDocument/2006/relationships/presProps" Target="/ppt/presProps.xml" Id="R24fd63cbf6e64bbe" /><Relationship Type="http://schemas.openxmlformats.org/officeDocument/2006/relationships/tableStyles" Target="/ppt/tableStyles.xml" Id="R808868afb60145e2" /><Relationship Type="http://schemas.openxmlformats.org/officeDocument/2006/relationships/slide" Target="/ppt/slides/slide1.xml" Id="R3f7c35d359d74c5f" /><Relationship Type="http://schemas.openxmlformats.org/officeDocument/2006/relationships/slide" Target="/ppt/slides/slide2.xml" Id="R81b24f2a4c734db8" /><Relationship Type="http://schemas.openxmlformats.org/officeDocument/2006/relationships/slide" Target="/ppt/slides/slide3.xml" Id="R8e7f3492374e4939" /><Relationship Type="http://schemas.openxmlformats.org/officeDocument/2006/relationships/slide" Target="/ppt/slides/slide4.xml" Id="R960c6438ec9c425e" /><Relationship Type="http://schemas.openxmlformats.org/officeDocument/2006/relationships/slide" Target="/ppt/slides/slide5.xml" Id="R72f6306d0f734760" /><Relationship Type="http://schemas.openxmlformats.org/officeDocument/2006/relationships/slide" Target="/ppt/slides/slide6.xml" Id="R32fda69dff274b72" /><Relationship Type="http://schemas.openxmlformats.org/officeDocument/2006/relationships/slide" Target="/ppt/slides/slide7.xml" Id="Rd8c45551a6a64af0" /><Relationship Type="http://schemas.openxmlformats.org/officeDocument/2006/relationships/slide" Target="/ppt/slides/slide8.xml" Id="Rab20b97ae6504ab3" /><Relationship Type="http://schemas.openxmlformats.org/officeDocument/2006/relationships/slide" Target="/ppt/slides/slide9.xml" Id="R9bd5a4ea3458463e" /><Relationship Type="http://schemas.openxmlformats.org/officeDocument/2006/relationships/slide" Target="/ppt/slides/slide10.xml" Id="R6e22dbe3b24d46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7096f8f9bc40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2acad7c6d04e05" /><Relationship Type="http://schemas.openxmlformats.org/officeDocument/2006/relationships/notesMaster" Target="/ppt/notesMasters/notesMaster1.xml" Id="R3a7f470cb18e4e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82fa7647a1401b" /><Relationship Type="http://schemas.openxmlformats.org/officeDocument/2006/relationships/notesMaster" Target="/ppt/notesMasters/notesMaster1.xml" Id="R8bac4a92d09940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eac804ae294da0" /><Relationship Type="http://schemas.openxmlformats.org/officeDocument/2006/relationships/notesMaster" Target="/ppt/notesMasters/notesMaster1.xml" Id="R5c20aec434904e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43b2ba80ad4b5c" /><Relationship Type="http://schemas.openxmlformats.org/officeDocument/2006/relationships/notesMaster" Target="/ppt/notesMasters/notesMaster1.xml" Id="Rce298310faa040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6b809f6228446a" /><Relationship Type="http://schemas.openxmlformats.org/officeDocument/2006/relationships/notesMaster" Target="/ppt/notesMasters/notesMaster1.xml" Id="R53979430530b42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30ab88ccd440f1" /><Relationship Type="http://schemas.openxmlformats.org/officeDocument/2006/relationships/notesMaster" Target="/ppt/notesMasters/notesMaster1.xml" Id="R2973c90b05a440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4b8016f9b44575" /><Relationship Type="http://schemas.openxmlformats.org/officeDocument/2006/relationships/notesMaster" Target="/ppt/notesMasters/notesMaster1.xml" Id="Re74590c78d7d41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c8f582e60843b6" /><Relationship Type="http://schemas.openxmlformats.org/officeDocument/2006/relationships/notesMaster" Target="/ppt/notesMasters/notesMaster1.xml" Id="R45f4e237083b47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e350e6c7674e30" /><Relationship Type="http://schemas.openxmlformats.org/officeDocument/2006/relationships/notesMaster" Target="/ppt/notesMasters/notesMaster1.xml" Id="R20a83fa464a14c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4ba7582f014572" /><Relationship Type="http://schemas.openxmlformats.org/officeDocument/2006/relationships/notesMaster" Target="/ppt/notesMasters/notesMaster1.xml" Id="R5bca3aa14cc540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program as one place to collect, compare and distribute newly published regulatory updates.</a:t>
            </a:r>
          </a:p>
          <a:p xmlns:a="http://schemas.openxmlformats.org/drawingml/2006/main">
            <a:r>
              <a:t/>
            </a:r>
          </a:p>
          <a:p xmlns:a="http://schemas.openxmlformats.org/drawingml/2006/main">
            <a:r>
              <a:t>[Sources]</a:t>
            </a:r>
          </a:p>
          <a:p xmlns:a="http://schemas.openxmlformats.org/drawingml/2006/main">
            <a:r>
              <a:t>- C:/Users/admin/Documents/Codex/2026-07-29/h/outputs/fca_monitor/REGULATORY_MONITOR_README.md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benefit: users no longer need to open and run every group file individually. The controller preserves each group’s detailed output.</a:t>
            </a:r>
          </a:p>
          <a:p xmlns:a="http://schemas.openxmlformats.org/drawingml/2006/main">
            <a:r>
              <a:t/>
            </a:r>
          </a:p>
          <a:p xmlns:a="http://schemas.openxmlformats.org/drawingml/2006/main">
            <a:r>
              <a:t>[Sources]</a:t>
            </a:r>
          </a:p>
          <a:p xmlns:a="http://schemas.openxmlformats.org/drawingml/2006/main">
            <a:r>
              <a:t>- C:/Users/admin/Documents/Codex/2026-07-29/h/outputs/fca_monitor/RegulatoryMonitor.py</a:t>
            </a:r>
          </a:p>
          <a:p xmlns:a="http://schemas.openxmlformats.org/drawingml/2006/main">
            <a:r>
              <a:t>- C:/Users/admin/Documents/Codex/2026-07-29/h/outputs/fca_monitor/REGULATORY_MONITOR_README.md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repeated authorities such as FSB, FISMA, FATF and EUR-Lex appear in more than one group because the groups reflect different monitoring responsibilities.</a:t>
            </a:r>
          </a:p>
          <a:p xmlns:a="http://schemas.openxmlformats.org/drawingml/2006/main">
            <a:r>
              <a:t/>
            </a:r>
          </a:p>
          <a:p xmlns:a="http://schemas.openxmlformats.org/drawingml/2006/main">
            <a:r>
              <a:t>[Sources]</a:t>
            </a:r>
          </a:p>
          <a:p xmlns:a="http://schemas.openxmlformats.org/drawingml/2006/main">
            <a:r>
              <a:t>- C:/Users/admin/Documents/Codex/2026-07-29/h/outputs/fca_monitor/Group1.py</a:t>
            </a:r>
          </a:p>
          <a:p xmlns:a="http://schemas.openxmlformats.org/drawingml/2006/main">
            <a:r>
              <a:t>- C:/Users/admin/Documents/Codex/2026-07-29/h/outputs/fca_monitor/Group2.py</a:t>
            </a:r>
          </a:p>
          <a:p xmlns:a="http://schemas.openxmlformats.org/drawingml/2006/main">
            <a:r>
              <a:t>- C:/Users/admin/Documents/Codex/2026-07-29/h/outputs/fca_monitor/Group3.py</a:t>
            </a:r>
          </a:p>
          <a:p xmlns:a="http://schemas.openxmlformats.org/drawingml/2006/main">
            <a:r>
              <a:t>- C:/Users/admin/Documents/Codex/2026-07-29/h/outputs/fca_monitor/group4.py</a:t>
            </a:r>
          </a:p>
          <a:p xmlns:a="http://schemas.openxmlformats.org/drawingml/2006/main">
            <a:r>
              <a:t>- C:/Users/admin/Documents/Codex/2026-07-29/h/outputs/fca_monitor/group5.py</a:t>
            </a:r>
          </a:p>
          <a:p xmlns:a="http://schemas.openxmlformats.org/drawingml/2006/main">
            <a:r>
              <a:t>- C:/Users/admin/Documents/Codex/2026-07-29/h/outputs/fca_monitor/group6.py</a:t>
            </a:r>
          </a:p>
          <a:p xmlns:a="http://schemas.openxmlformats.org/drawingml/2006/main">
            <a:r>
              <a:t>- C:/Users/admin/Documents/Codex/2026-07-29/h/outputs/fca_monitor/Group7.py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build story brief: the work moved from individual scrapers, to quality controls, to a usable product and deployment package.</a:t>
            </a:r>
          </a:p>
          <a:p xmlns:a="http://schemas.openxmlformats.org/drawingml/2006/main">
            <a:r>
              <a:t/>
            </a:r>
          </a:p>
          <a:p xmlns:a="http://schemas.openxmlformats.org/drawingml/2006/main">
            <a:r>
              <a:t>[Sources]</a:t>
            </a:r>
          </a:p>
          <a:p xmlns:a="http://schemas.openxmlformats.org/drawingml/2006/main">
            <a:r>
              <a:t>- C:/Users/admin/Documents/Codex/2026-07-29/h/outputs/fca_monitor/RegulatoryMonitor.py</a:t>
            </a:r>
          </a:p>
          <a:p xmlns:a="http://schemas.openxmlformats.org/drawingml/2006/main">
            <a:r>
              <a:t>- C:/Users/admin/Documents/Codex/2026-07-29/h/outputs/fca_monitor/RegulatoryMonitorApp.py</a:t>
            </a:r>
          </a:p>
          <a:p xmlns:a="http://schemas.openxmlformats.org/drawingml/2006/main">
            <a:r>
              <a:t>- C:/Users/admin/Documents/Codex/2026-07-29/h/outputs/fca_monitor/RegulatoryMonitor.spec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that the first three challenges were addressed in the parsing and filtering logic. Outlook remains environment-dependent and may require EY IT approval on the final machine.</a:t>
            </a:r>
          </a:p>
          <a:p xmlns:a="http://schemas.openxmlformats.org/drawingml/2006/main">
            <a:r>
              <a:t/>
            </a:r>
          </a:p>
          <a:p xmlns:a="http://schemas.openxmlformats.org/drawingml/2006/main">
            <a:r>
              <a:t>[Sources]</a:t>
            </a:r>
          </a:p>
          <a:p xmlns:a="http://schemas.openxmlformats.org/drawingml/2006/main">
            <a:r>
              <a:t>- C:/Users/admin/Documents/Codex/2026-07-29/h/outputs/fca_monitor/Group1.py</a:t>
            </a:r>
          </a:p>
          <a:p xmlns:a="http://schemas.openxmlformats.org/drawingml/2006/main">
            <a:r>
              <a:t>- C:/Users/admin/Documents/Codex/2026-07-29/h/outputs/fca_monitor/group5.py</a:t>
            </a:r>
          </a:p>
          <a:p xmlns:a="http://schemas.openxmlformats.org/drawingml/2006/main">
            <a:r>
              <a:t>- C:/Users/admin/Documents/Codex/2026-07-29/h/outputs/fca_monitor/group6.py</a:t>
            </a:r>
          </a:p>
          <a:p xmlns:a="http://schemas.openxmlformats.org/drawingml/2006/main">
            <a:r>
              <a:t>- C:/Users/admin/Documents/Codex/2026-07-29/h/outputs/fca_monitor/email_delivery.py</a:t>
            </a:r>
          </a:p>
          <a:p xmlns:a="http://schemas.openxmlformats.org/drawingml/2006/main">
            <a:r>
              <a:t>- C:/Users/admin/Documents/Codex/2026-07-29/h/outputs/fca_monitor/DEPLOYMENT_README.txt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operating logic. Closing VS Code or the application does not erase the JSON history because it is saved on disk. A fresh installation has no baseline, so its first report can be large.</a:t>
            </a:r>
          </a:p>
          <a:p xmlns:a="http://schemas.openxmlformats.org/drawingml/2006/main">
            <a:r>
              <a:t/>
            </a:r>
          </a:p>
          <a:p xmlns:a="http://schemas.openxmlformats.org/drawingml/2006/main">
            <a:r>
              <a:t>[Sources]</a:t>
            </a:r>
          </a:p>
          <a:p xmlns:a="http://schemas.openxmlformats.org/drawingml/2006/main">
            <a:r>
              <a:t>- C:/Users/admin/Documents/Codex/2026-07-29/h/outputs/fca_monitor/RegulatoryMonitor.py</a:t>
            </a:r>
          </a:p>
          <a:p xmlns:a="http://schemas.openxmlformats.org/drawingml/2006/main">
            <a:r>
              <a:t>- C:/Users/admin/Documents/Codex/2026-07-29/h/outputs/fca_monitor/REGULATORY_MONITOR_README.md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scheduling is a deployment configuration, not a separate program. The scheduled command uses the same saved settings and update history.</a:t>
            </a:r>
          </a:p>
          <a:p xmlns:a="http://schemas.openxmlformats.org/drawingml/2006/main">
            <a:r>
              <a:t/>
            </a:r>
          </a:p>
          <a:p xmlns:a="http://schemas.openxmlformats.org/drawingml/2006/main">
            <a:r>
              <a:t>[Sources]</a:t>
            </a:r>
          </a:p>
          <a:p xmlns:a="http://schemas.openxmlformats.org/drawingml/2006/main">
            <a:r>
              <a:t>- C:/Users/admin/Documents/Codex/2026-07-29/h/outputs/fca_monitor/RegulatoryMonitorApp.py</a:t>
            </a:r>
          </a:p>
          <a:p xmlns:a="http://schemas.openxmlformats.org/drawingml/2006/main">
            <a:r>
              <a:t>- C:/Users/admin/Documents/Codex/2026-07-29/h/outputs/fca_monitor/REGULATORY_MONITOR_README.md</a:t>
            </a:r>
          </a:p>
          <a:p xmlns:a="http://schemas.openxmlformats.org/drawingml/2006/main">
            <a:r>
              <a:t>- C:/Users/admin/Documents/Codex/2026-07-29/h/outputs/fca_monitor/DEPLOYMENT_README.txt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top to bottom: Outlook sender and recipients, local report folder, group selection, action buttons and the complete output panel.</a:t>
            </a:r>
          </a:p>
          <a:p xmlns:a="http://schemas.openxmlformats.org/drawingml/2006/main">
            <a:r>
              <a:t/>
            </a:r>
          </a:p>
          <a:p xmlns:a="http://schemas.openxmlformats.org/drawingml/2006/main">
            <a:r>
              <a:t>[Sources]</a:t>
            </a:r>
          </a:p>
          <a:p xmlns:a="http://schemas.openxmlformats.org/drawingml/2006/main">
            <a:r>
              <a:t>- C:/Users/admin/Documents/Codex/2026-07-29/h/outputs/fca_monitor/RegulatoryMonitorApp.py</a:t>
            </a:r>
          </a:p>
          <a:p xmlns:a="http://schemas.openxmlformats.org/drawingml/2006/main">
            <a:r>
              <a:t>- C:/Users/admin/Documents/Codex/2026-07-29/h/outputs/fca_monitor/email_delivery.py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the distinction between the two run buttons: local saving works without Outlook; emailing requires valid recipients and a permitted Outlook profile.</a:t>
            </a:r>
          </a:p>
          <a:p xmlns:a="http://schemas.openxmlformats.org/drawingml/2006/main">
            <a:r>
              <a:t/>
            </a:r>
          </a:p>
          <a:p xmlns:a="http://schemas.openxmlformats.org/drawingml/2006/main">
            <a:r>
              <a:t>[Sources]</a:t>
            </a:r>
          </a:p>
          <a:p xmlns:a="http://schemas.openxmlformats.org/drawingml/2006/main">
            <a:r>
              <a:t>- C:/Users/admin/Documents/Codex/2026-07-29/h/outputs/fca_monitor/RegulatoryMonitorApp.py</a:t>
            </a:r>
          </a:p>
          <a:p xmlns:a="http://schemas.openxmlformats.org/drawingml/2006/main">
            <a:r>
              <a:t>- C:/Users/admin/Documents/Codex/2026-07-29/h/outputs/fca_monitor/DEPLOYMENT_README.txt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clear status: the core monitor and local reporting are ready. The immediate deployment gate is Outlook access on the target EY laptop, followed by Task Scheduler setup and a controlled first-run baseline.</a:t>
            </a:r>
          </a:p>
          <a:p xmlns:a="http://schemas.openxmlformats.org/drawingml/2006/main">
            <a:r>
              <a:t/>
            </a:r>
          </a:p>
          <a:p xmlns:a="http://schemas.openxmlformats.org/drawingml/2006/main">
            <a:r>
              <a:t>[Sources]</a:t>
            </a:r>
          </a:p>
          <a:p xmlns:a="http://schemas.openxmlformats.org/drawingml/2006/main">
            <a:r>
              <a:t>- C:/Users/admin/Documents/Codex/2026-07-29/h/outputs/fca_monitor/REGULATORY_MONITOR_README.md</a:t>
            </a:r>
          </a:p>
          <a:p xmlns:a="http://schemas.openxmlformats.org/drawingml/2006/main">
            <a:r>
              <a:t>- C:/Users/admin/Documents/Codex/2026-07-29/h/outputs/fca_monitor/DEPLOYMENT_README.txt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88a0907f894f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4f565c30a243c8" /><Relationship Type="http://schemas.openxmlformats.org/officeDocument/2006/relationships/slideLayout" Target="/ppt/slideLayouts/slideLayout1.xml" Id="R7055f5ddd3284d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55f5ddd3284d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e94ca81edb4c11" /><Relationship Type="http://schemas.openxmlformats.org/officeDocument/2006/relationships/notesSlide" Target="/ppt/notesSlides/notesSlide1.xml" Id="Rcc2638ffc5fc44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ec1d9daa224942" /><Relationship Type="http://schemas.openxmlformats.org/officeDocument/2006/relationships/notesSlide" Target="/ppt/notesSlides/notesSlide2.xml" Id="R9df7cdf5f0f744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ab6a7cc6b14a45" /><Relationship Type="http://schemas.openxmlformats.org/officeDocument/2006/relationships/notesSlide" Target="/ppt/notesSlides/notesSlide3.xml" Id="Rbe155a6d583d4f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ad424be8154bbb" /><Relationship Type="http://schemas.openxmlformats.org/officeDocument/2006/relationships/notesSlide" Target="/ppt/notesSlides/notesSlide4.xml" Id="Re367590f3a0243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d0cde2f43b42ab" /><Relationship Type="http://schemas.openxmlformats.org/officeDocument/2006/relationships/notesSlide" Target="/ppt/notesSlides/notesSlide5.xml" Id="R4d17adb01e8147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2c85a26336472b" /><Relationship Type="http://schemas.openxmlformats.org/officeDocument/2006/relationships/notesSlide" Target="/ppt/notesSlides/notesSlide6.xml" Id="R4d35381ae06047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7cf9a8f1434b66" /><Relationship Type="http://schemas.openxmlformats.org/officeDocument/2006/relationships/notesSlide" Target="/ppt/notesSlides/notesSlide7.xml" Id="R72045119fa9d4e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af47ad67664071" /><Relationship Type="http://schemas.openxmlformats.org/officeDocument/2006/relationships/notesSlide" Target="/ppt/notesSlides/notesSlide8.xml" Id="R194cf8aadddc47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53d2702b8d4fc3" /><Relationship Type="http://schemas.openxmlformats.org/officeDocument/2006/relationships/notesSlide" Target="/ppt/notesSlides/notesSlide9.xml" Id="Rf1cf60ea58874d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d52859a7f74834" /><Relationship Type="http://schemas.openxmlformats.org/officeDocument/2006/relationships/notesSlide" Target="/ppt/notesSlides/notesSlide10.xml" Id="Rd4ad2e41b78846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upertitle">
            <a:extLst xmlns:a="http://schemas.openxmlformats.org/drawingml/2006/main">
              <a:ext uri="{FF2B5EF4-FFF2-40B4-BE49-F238E27FC236}">
                <a16:creationId xmlns:a16="http://schemas.microsoft.com/office/drawing/2014/main" id="{80C1CE63-1C4D-44C7-81F4-20AB0E03B23D}"/>
              </a:ext>
            </a:extLst>
          </p:cNvPr>
          <p:cNvSpPr>
            <a:spLocks xmlns:a="http://schemas.openxmlformats.org/drawingml/2006/main" noGrp="1"/>
          </p:cNvSpPr>
          <p:nvPr/>
        </p:nvSpPr>
        <p:spPr>
          <a:xfrm xmlns:a="http://schemas.openxmlformats.org/drawingml/2006/main">
            <a:off x="393668" y="392240"/>
            <a:ext cx="570233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PROGRAM OVERVIEW</a:t>
            </a:r>
          </a:p>
        </p:txBody>
      </p:sp>
      <p:sp>
        <p:nvSpPr>
          <p:cNvPr id="2" name="deck-title">
            <a:extLst xmlns:a="http://schemas.openxmlformats.org/drawingml/2006/main">
              <a:ext uri="{FF2B5EF4-FFF2-40B4-BE49-F238E27FC236}">
                <a16:creationId xmlns:a16="http://schemas.microsoft.com/office/drawing/2014/main" id="{90D8DCD1-DBC5-4E83-95E7-07AFBAB499D2}"/>
              </a:ext>
            </a:extLst>
          </p:cNvPr>
          <p:cNvSpPr>
            <a:spLocks xmlns:a="http://schemas.openxmlformats.org/drawingml/2006/main" noGrp="1"/>
          </p:cNvSpPr>
          <p:nvPr/>
        </p:nvSpPr>
        <p:spPr>
          <a:xfrm xmlns:a="http://schemas.openxmlformats.org/drawingml/2006/main">
            <a:off x="393668" y="1695450"/>
            <a:ext cx="96202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400" b="0">
                <a:solidFill>
                  <a:srgbClr val="000000"/>
                </a:solidFill>
                <a:latin typeface="Arial"/>
                <a:ea typeface="Arial"/>
                <a:cs typeface="Arial"/>
              </a:defRPr>
            </a:pPr>
            <a:r>
              <a:rPr sz="5400" b="0">
                <a:solidFill>
                  <a:srgbClr val="000000"/>
                </a:solidFill>
                <a:latin typeface="Arial"/>
                <a:ea typeface="Arial"/>
                <a:cs typeface="Arial"/>
              </a:rPr>
              <a:t>Regulatory Updates</a:t>
            </a:r>
          </a:p>
          <a:p xmlns:a="http://schemas.openxmlformats.org/drawingml/2006/main">
            <a:pPr algn="l">
              <a:defRPr sz="5400" b="0">
                <a:solidFill>
                  <a:srgbClr val="000000"/>
                </a:solidFill>
                <a:latin typeface="Arial"/>
                <a:ea typeface="Arial"/>
                <a:cs typeface="Arial"/>
              </a:defRPr>
            </a:pPr>
            <a:r>
              <a:rPr sz="5400" b="0">
                <a:solidFill>
                  <a:srgbClr val="000000"/>
                </a:solidFill>
                <a:latin typeface="Arial"/>
                <a:ea typeface="Arial"/>
                <a:cs typeface="Arial"/>
              </a:rPr>
              <a:t>Monitoring System</a:t>
            </a:r>
          </a:p>
        </p:txBody>
      </p:sp>
      <p:sp>
        <p:nvSpPr>
          <p:cNvPr id="3" name="deck-subtitle">
            <a:extLst xmlns:a="http://schemas.openxmlformats.org/drawingml/2006/main">
              <a:ext uri="{FF2B5EF4-FFF2-40B4-BE49-F238E27FC236}">
                <a16:creationId xmlns:a16="http://schemas.microsoft.com/office/drawing/2014/main" id="{23CB0686-E10F-4752-8F53-EF597BBD3A1A}"/>
              </a:ext>
            </a:extLst>
          </p:cNvPr>
          <p:cNvSpPr>
            <a:spLocks xmlns:a="http://schemas.openxmlformats.org/drawingml/2006/main" noGrp="1"/>
          </p:cNvSpPr>
          <p:nvPr/>
        </p:nvSpPr>
        <p:spPr>
          <a:xfrm xmlns:a="http://schemas.openxmlformats.org/drawingml/2006/main">
            <a:off x="393668" y="4781550"/>
            <a:ext cx="752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5E6673"/>
                </a:solidFill>
                <a:latin typeface="Arial"/>
                <a:ea typeface="Arial"/>
                <a:cs typeface="Arial"/>
              </a:defRPr>
            </a:pPr>
            <a:r>
              <a:rPr sz="2100" b="0">
                <a:solidFill>
                  <a:srgbClr val="5E6673"/>
                </a:solidFill>
                <a:latin typeface="Arial"/>
                <a:ea typeface="Arial"/>
                <a:cs typeface="Arial"/>
              </a:rPr>
              <a:t>Seven source groups · on-demand interface · scheduled reporting</a:t>
            </a:r>
          </a:p>
        </p:txBody>
      </p:sp>
      <p:sp>
        <p:nvSpPr>
          <p:cNvPr id="4" name="cover-field">
            <a:extLst xmlns:a="http://schemas.openxmlformats.org/drawingml/2006/main">
              <a:ext uri="{FF2B5EF4-FFF2-40B4-BE49-F238E27FC236}">
                <a16:creationId xmlns:a16="http://schemas.microsoft.com/office/drawing/2014/main" id="{772336C2-BD71-4453-9D2E-4FD7241AB7C7}"/>
              </a:ext>
            </a:extLst>
          </p:cNvPr>
          <p:cNvSpPr>
            <a:spLocks xmlns:a="http://schemas.openxmlformats.org/drawingml/2006/main" noGrp="1"/>
          </p:cNvSpPr>
          <p:nvPr/>
        </p:nvSpPr>
        <p:spPr>
          <a:xfrm xmlns:a="http://schemas.openxmlformats.org/drawingml/2006/main">
            <a:off x="9810750" y="390525"/>
            <a:ext cx="1981200" cy="56007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cover-accent">
            <a:extLst xmlns:a="http://schemas.openxmlformats.org/drawingml/2006/main">
              <a:ext uri="{FF2B5EF4-FFF2-40B4-BE49-F238E27FC236}">
                <a16:creationId xmlns:a16="http://schemas.microsoft.com/office/drawing/2014/main" id="{48DC6AF4-DCAF-4EA4-8C92-D063208BB041}"/>
              </a:ext>
            </a:extLst>
          </p:cNvPr>
          <p:cNvSpPr>
            <a:spLocks xmlns:a="http://schemas.openxmlformats.org/drawingml/2006/main" noGrp="1"/>
          </p:cNvSpPr>
          <p:nvPr/>
        </p:nvSpPr>
        <p:spPr>
          <a:xfrm xmlns:a="http://schemas.openxmlformats.org/drawingml/2006/main">
            <a:off x="10496550" y="1238250"/>
            <a:ext cx="609600" cy="3429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21119877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4A6285E4-B4FF-48BF-860B-EA36A045FFD7}"/>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One monitor replaces seven separate manual runs</a:t>
            </a:r>
          </a:p>
        </p:txBody>
      </p:sp>
      <p:sp>
        <p:nvSpPr>
          <p:cNvPr id="2" name="title-accent">
            <a:extLst xmlns:a="http://schemas.openxmlformats.org/drawingml/2006/main">
              <a:ext uri="{FF2B5EF4-FFF2-40B4-BE49-F238E27FC236}">
                <a16:creationId xmlns:a16="http://schemas.microsoft.com/office/drawing/2014/main" id="{42344521-CD99-41BB-B434-013A075371CB}"/>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38A33ED1-7238-4FEB-8042-7EBFD9780073}"/>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2</a:t>
            </a:r>
          </a:p>
        </p:txBody>
      </p:sp>
      <p:sp>
        <p:nvSpPr>
          <p:cNvPr id="4" name="value-summary">
            <a:extLst xmlns:a="http://schemas.openxmlformats.org/drawingml/2006/main">
              <a:ext uri="{FF2B5EF4-FFF2-40B4-BE49-F238E27FC236}">
                <a16:creationId xmlns:a16="http://schemas.microsoft.com/office/drawing/2014/main" id="{1E50E33A-EAE3-4DB1-A04C-0402CC317D58}"/>
              </a:ext>
            </a:extLst>
          </p:cNvPr>
          <p:cNvSpPr>
            <a:spLocks xmlns:a="http://schemas.openxmlformats.org/drawingml/2006/main" noGrp="1"/>
          </p:cNvSpPr>
          <p:nvPr/>
        </p:nvSpPr>
        <p:spPr>
          <a:xfrm xmlns:a="http://schemas.openxmlformats.org/drawingml/2006/main">
            <a:off x="393668" y="1428750"/>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E6673"/>
                </a:solidFill>
                <a:latin typeface="Arial"/>
                <a:ea typeface="Arial"/>
                <a:cs typeface="Arial"/>
              </a:defRPr>
            </a:pPr>
            <a:r>
              <a:rPr sz="1575" b="0">
                <a:solidFill>
                  <a:srgbClr val="5E6673"/>
                </a:solidFill>
                <a:latin typeface="Arial"/>
                <a:ea typeface="Arial"/>
                <a:cs typeface="Arial"/>
              </a:rPr>
              <a:t>The program checks official regulatory sources, keeps only relevant recent publications and produces one readable report with a title, issue date, description and link.</a:t>
            </a:r>
          </a:p>
        </p:txBody>
      </p:sp>
      <p:sp>
        <p:nvSpPr>
          <p:cNvPr id="5" name="metric-card-1">
            <a:extLst xmlns:a="http://schemas.openxmlformats.org/drawingml/2006/main">
              <a:ext uri="{FF2B5EF4-FFF2-40B4-BE49-F238E27FC236}">
                <a16:creationId xmlns:a16="http://schemas.microsoft.com/office/drawing/2014/main" id="{83B60439-D633-4436-9C03-20F4654FFC74}"/>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EAF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49F44F-C707-42DB-9400-2E78946234D3}"/>
              </a:ext>
            </a:extLst>
          </p:cNvPr>
          <p:cNvSpPr>
            <a:spLocks xmlns:a="http://schemas.openxmlformats.org/drawingml/2006/main" noGrp="1"/>
          </p:cNvSpPr>
          <p:nvPr/>
        </p:nvSpPr>
        <p:spPr>
          <a:xfrm xmlns:a="http://schemas.openxmlformats.org/drawingml/2006/main">
            <a:off x="698468" y="3352800"/>
            <a:ext cx="2952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850" b="1">
                <a:solidFill>
                  <a:srgbClr val="3D8DFF"/>
                </a:solidFill>
                <a:latin typeface="Arial"/>
                <a:ea typeface="Arial"/>
                <a:cs typeface="Arial"/>
              </a:defRPr>
            </a:pPr>
            <a:r>
              <a:rPr sz="5850" b="1">
                <a:solidFill>
                  <a:srgbClr val="3D8DFF"/>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6E09C8F2-D760-43EE-8D2F-4BCEBA959EB6}"/>
              </a:ext>
            </a:extLst>
          </p:cNvPr>
          <p:cNvSpPr>
            <a:spLocks xmlns:a="http://schemas.openxmlformats.org/drawingml/2006/main" noGrp="1"/>
          </p:cNvSpPr>
          <p:nvPr/>
        </p:nvSpPr>
        <p:spPr>
          <a:xfrm xmlns:a="http://schemas.openxmlformats.org/drawingml/2006/main">
            <a:off x="698468" y="46196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source groups</a:t>
            </a:r>
          </a:p>
        </p:txBody>
      </p:sp>
      <p:sp>
        <p:nvSpPr>
          <p:cNvPr id="8" name="">
            <a:extLst xmlns:a="http://schemas.openxmlformats.org/drawingml/2006/main">
              <a:ext uri="{FF2B5EF4-FFF2-40B4-BE49-F238E27FC236}">
                <a16:creationId xmlns:a16="http://schemas.microsoft.com/office/drawing/2014/main" id="{3ECE97DB-FE35-41BF-A930-5A3762F7A78A}"/>
              </a:ext>
            </a:extLst>
          </p:cNvPr>
          <p:cNvSpPr>
            <a:spLocks xmlns:a="http://schemas.openxmlformats.org/drawingml/2006/main" noGrp="1"/>
          </p:cNvSpPr>
          <p:nvPr/>
        </p:nvSpPr>
        <p:spPr>
          <a:xfrm xmlns:a="http://schemas.openxmlformats.org/drawingml/2006/main">
            <a:off x="698468" y="511492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National, European and global regulatory bodies</a:t>
            </a:r>
          </a:p>
        </p:txBody>
      </p:sp>
      <p:sp>
        <p:nvSpPr>
          <p:cNvPr id="9" name="metric-card-2">
            <a:extLst xmlns:a="http://schemas.openxmlformats.org/drawingml/2006/main">
              <a:ext uri="{FF2B5EF4-FFF2-40B4-BE49-F238E27FC236}">
                <a16:creationId xmlns:a16="http://schemas.microsoft.com/office/drawing/2014/main" id="{F35BB46A-C273-46D4-9469-7A7C484542C3}"/>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E948EE-B3A8-41FF-B823-B9C370057C4C}"/>
              </a:ext>
            </a:extLst>
          </p:cNvPr>
          <p:cNvSpPr>
            <a:spLocks xmlns:a="http://schemas.openxmlformats.org/drawingml/2006/main" noGrp="1"/>
          </p:cNvSpPr>
          <p:nvPr/>
        </p:nvSpPr>
        <p:spPr>
          <a:xfrm xmlns:a="http://schemas.openxmlformats.org/drawingml/2006/main">
            <a:off x="4616482" y="3352800"/>
            <a:ext cx="2952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850" b="1">
                <a:solidFill>
                  <a:srgbClr val="000000"/>
                </a:solidFill>
                <a:latin typeface="Arial"/>
                <a:ea typeface="Arial"/>
                <a:cs typeface="Arial"/>
              </a:defRPr>
            </a:pPr>
            <a:r>
              <a:rPr sz="5850" b="1">
                <a:solidFill>
                  <a:srgbClr val="000000"/>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F59E8BF3-2C35-4B7D-B4AB-F2648D1ACD9A}"/>
              </a:ext>
            </a:extLst>
          </p:cNvPr>
          <p:cNvSpPr>
            <a:spLocks xmlns:a="http://schemas.openxmlformats.org/drawingml/2006/main" noGrp="1"/>
          </p:cNvSpPr>
          <p:nvPr/>
        </p:nvSpPr>
        <p:spPr>
          <a:xfrm xmlns:a="http://schemas.openxmlformats.org/drawingml/2006/main">
            <a:off x="4616482" y="46196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ways to run</a:t>
            </a:r>
          </a:p>
        </p:txBody>
      </p:sp>
      <p:sp>
        <p:nvSpPr>
          <p:cNvPr id="12" name="">
            <a:extLst xmlns:a="http://schemas.openxmlformats.org/drawingml/2006/main">
              <a:ext uri="{FF2B5EF4-FFF2-40B4-BE49-F238E27FC236}">
                <a16:creationId xmlns:a16="http://schemas.microsoft.com/office/drawing/2014/main" id="{DAA513F6-26BF-46FA-9C86-51D0A33D0D78}"/>
              </a:ext>
            </a:extLst>
          </p:cNvPr>
          <p:cNvSpPr>
            <a:spLocks xmlns:a="http://schemas.openxmlformats.org/drawingml/2006/main" noGrp="1"/>
          </p:cNvSpPr>
          <p:nvPr/>
        </p:nvSpPr>
        <p:spPr>
          <a:xfrm xmlns:a="http://schemas.openxmlformats.org/drawingml/2006/main">
            <a:off x="4616482" y="511492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On demand through the UI or automatically on schedule</a:t>
            </a:r>
          </a:p>
        </p:txBody>
      </p:sp>
      <p:sp>
        <p:nvSpPr>
          <p:cNvPr id="13" name="metric-card-3">
            <a:extLst xmlns:a="http://schemas.openxmlformats.org/drawingml/2006/main">
              <a:ext uri="{FF2B5EF4-FFF2-40B4-BE49-F238E27FC236}">
                <a16:creationId xmlns:a16="http://schemas.microsoft.com/office/drawing/2014/main" id="{D375CA67-0BB6-465D-BEC1-D595DAAA7B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1CE995-B1FF-4B0A-9EC0-0F84E5BE7759}"/>
              </a:ext>
            </a:extLst>
          </p:cNvPr>
          <p:cNvSpPr>
            <a:spLocks xmlns:a="http://schemas.openxmlformats.org/drawingml/2006/main" noGrp="1"/>
          </p:cNvSpPr>
          <p:nvPr/>
        </p:nvSpPr>
        <p:spPr>
          <a:xfrm xmlns:a="http://schemas.openxmlformats.org/drawingml/2006/main">
            <a:off x="8537067" y="3352800"/>
            <a:ext cx="2952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850" b="1">
                <a:solidFill>
                  <a:srgbClr val="000000"/>
                </a:solidFill>
                <a:latin typeface="Arial"/>
                <a:ea typeface="Arial"/>
                <a:cs typeface="Arial"/>
              </a:defRPr>
            </a:pPr>
            <a:r>
              <a:rPr sz="5850" b="1">
                <a:solidFill>
                  <a:srgbClr val="000000"/>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D63F3604-B33C-4A73-9968-2BDE035C4E62}"/>
              </a:ext>
            </a:extLst>
          </p:cNvPr>
          <p:cNvSpPr>
            <a:spLocks xmlns:a="http://schemas.openxmlformats.org/drawingml/2006/main" noGrp="1"/>
          </p:cNvSpPr>
          <p:nvPr/>
        </p:nvSpPr>
        <p:spPr>
          <a:xfrm xmlns:a="http://schemas.openxmlformats.org/drawingml/2006/main">
            <a:off x="8537067" y="46196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0000"/>
                </a:solidFill>
                <a:latin typeface="Arial"/>
                <a:ea typeface="Arial"/>
                <a:cs typeface="Arial"/>
              </a:defRPr>
            </a:pPr>
            <a:r>
              <a:rPr sz="1800" b="1">
                <a:solidFill>
                  <a:srgbClr val="000000"/>
                </a:solidFill>
                <a:latin typeface="Arial"/>
                <a:ea typeface="Arial"/>
                <a:cs typeface="Arial"/>
              </a:rPr>
              <a:t>full report</a:t>
            </a:r>
          </a:p>
        </p:txBody>
      </p:sp>
      <p:sp>
        <p:nvSpPr>
          <p:cNvPr id="16" name="">
            <a:extLst xmlns:a="http://schemas.openxmlformats.org/drawingml/2006/main">
              <a:ext uri="{FF2B5EF4-FFF2-40B4-BE49-F238E27FC236}">
                <a16:creationId xmlns:a16="http://schemas.microsoft.com/office/drawing/2014/main" id="{38C73E8D-9D35-48D1-8E44-3A2D14CE42CA}"/>
              </a:ext>
            </a:extLst>
          </p:cNvPr>
          <p:cNvSpPr>
            <a:spLocks xmlns:a="http://schemas.openxmlformats.org/drawingml/2006/main" noGrp="1"/>
          </p:cNvSpPr>
          <p:nvPr/>
        </p:nvSpPr>
        <p:spPr>
          <a:xfrm xmlns:a="http://schemas.openxmlformats.org/drawingml/2006/main">
            <a:off x="8537067" y="511492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The same detailed output is saved locally and can be emailed</a:t>
            </a:r>
          </a:p>
        </p:txBody>
      </p:sp>
    </p:spTree>
    <p:extLst>
      <p:ext uri="{BB962C8B-B14F-4D97-AF65-F5344CB8AC3E}">
        <p14:creationId xmlns:p14="http://schemas.microsoft.com/office/powerpoint/2010/main" val="3602978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CC1F5143-AE8F-4347-A856-28AD28FB783A}"/>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Seven groups organize a broad regulatory source set</a:t>
            </a:r>
          </a:p>
        </p:txBody>
      </p:sp>
      <p:sp>
        <p:nvSpPr>
          <p:cNvPr id="2" name="title-accent">
            <a:extLst xmlns:a="http://schemas.openxmlformats.org/drawingml/2006/main">
              <a:ext uri="{FF2B5EF4-FFF2-40B4-BE49-F238E27FC236}">
                <a16:creationId xmlns:a16="http://schemas.microsoft.com/office/drawing/2014/main" id="{8219AC83-3726-42A6-841E-B0156C13D346}"/>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669306F0-1583-4EF8-9E5C-0166FE09F4BF}"/>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86DA34B2-5F56-487C-9FF1-E27DBB681E7E}"/>
              </a:ext>
            </a:extLst>
          </p:cNvPr>
          <p:cNvSpPr>
            <a:spLocks xmlns:a="http://schemas.openxmlformats.org/drawingml/2006/main" noGrp="1"/>
          </p:cNvSpPr>
          <p:nvPr/>
        </p:nvSpPr>
        <p:spPr>
          <a:xfrm xmlns:a="http://schemas.openxmlformats.org/drawingml/2006/main">
            <a:off x="393668" y="209550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1</a:t>
            </a:r>
          </a:p>
        </p:txBody>
      </p:sp>
      <p:sp>
        <p:nvSpPr>
          <p:cNvPr id="5" name="">
            <a:extLst xmlns:a="http://schemas.openxmlformats.org/drawingml/2006/main">
              <a:ext uri="{FF2B5EF4-FFF2-40B4-BE49-F238E27FC236}">
                <a16:creationId xmlns:a16="http://schemas.microsoft.com/office/drawing/2014/main" id="{44AAED31-81D5-4443-BD75-DCA013BF4C4F}"/>
              </a:ext>
            </a:extLst>
          </p:cNvPr>
          <p:cNvSpPr>
            <a:spLocks xmlns:a="http://schemas.openxmlformats.org/drawingml/2006/main" noGrp="1"/>
          </p:cNvSpPr>
          <p:nvPr/>
        </p:nvSpPr>
        <p:spPr>
          <a:xfrm xmlns:a="http://schemas.openxmlformats.org/drawingml/2006/main">
            <a:off x="393668" y="255270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EBA · ECB/SSM</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FISMA · EUR-Lex</a:t>
            </a:r>
          </a:p>
        </p:txBody>
      </p:sp>
      <p:sp>
        <p:nvSpPr>
          <p:cNvPr id="6" name="">
            <a:extLst xmlns:a="http://schemas.openxmlformats.org/drawingml/2006/main">
              <a:ext uri="{FF2B5EF4-FFF2-40B4-BE49-F238E27FC236}">
                <a16:creationId xmlns:a16="http://schemas.microsoft.com/office/drawing/2014/main" id="{404E248E-0767-43D9-878B-33BD20FB3492}"/>
              </a:ext>
            </a:extLst>
          </p:cNvPr>
          <p:cNvSpPr>
            <a:spLocks xmlns:a="http://schemas.openxmlformats.org/drawingml/2006/main" noGrp="1"/>
          </p:cNvSpPr>
          <p:nvPr/>
        </p:nvSpPr>
        <p:spPr>
          <a:xfrm xmlns:a="http://schemas.openxmlformats.org/drawingml/2006/main">
            <a:off x="393668" y="192405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CF0040-4C8D-475A-A1A0-867763487127}"/>
              </a:ext>
            </a:extLst>
          </p:cNvPr>
          <p:cNvSpPr>
            <a:spLocks xmlns:a="http://schemas.openxmlformats.org/drawingml/2006/main" noGrp="1"/>
          </p:cNvSpPr>
          <p:nvPr/>
        </p:nvSpPr>
        <p:spPr>
          <a:xfrm xmlns:a="http://schemas.openxmlformats.org/drawingml/2006/main">
            <a:off x="3334988" y="209550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2</a:t>
            </a:r>
          </a:p>
        </p:txBody>
      </p:sp>
      <p:sp>
        <p:nvSpPr>
          <p:cNvPr id="8" name="">
            <a:extLst xmlns:a="http://schemas.openxmlformats.org/drawingml/2006/main">
              <a:ext uri="{FF2B5EF4-FFF2-40B4-BE49-F238E27FC236}">
                <a16:creationId xmlns:a16="http://schemas.microsoft.com/office/drawing/2014/main" id="{105D116C-9728-4FD8-89F8-D440FFCD5B3C}"/>
              </a:ext>
            </a:extLst>
          </p:cNvPr>
          <p:cNvSpPr>
            <a:spLocks xmlns:a="http://schemas.openxmlformats.org/drawingml/2006/main" noGrp="1"/>
          </p:cNvSpPr>
          <p:nvPr/>
        </p:nvSpPr>
        <p:spPr>
          <a:xfrm xmlns:a="http://schemas.openxmlformats.org/drawingml/2006/main">
            <a:off x="3334988" y="255270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EIOPA · IAIS</a:t>
            </a:r>
          </a:p>
        </p:txBody>
      </p:sp>
      <p:sp>
        <p:nvSpPr>
          <p:cNvPr id="9" name="">
            <a:extLst xmlns:a="http://schemas.openxmlformats.org/drawingml/2006/main">
              <a:ext uri="{FF2B5EF4-FFF2-40B4-BE49-F238E27FC236}">
                <a16:creationId xmlns:a16="http://schemas.microsoft.com/office/drawing/2014/main" id="{0B94DA5B-E1D1-499D-B3DE-328AF2D9184F}"/>
              </a:ext>
            </a:extLst>
          </p:cNvPr>
          <p:cNvSpPr>
            <a:spLocks xmlns:a="http://schemas.openxmlformats.org/drawingml/2006/main" noGrp="1"/>
          </p:cNvSpPr>
          <p:nvPr/>
        </p:nvSpPr>
        <p:spPr>
          <a:xfrm xmlns:a="http://schemas.openxmlformats.org/drawingml/2006/main">
            <a:off x="3334988" y="192405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65394C-9397-4B68-A4E8-F9755645C4E4}"/>
              </a:ext>
            </a:extLst>
          </p:cNvPr>
          <p:cNvSpPr>
            <a:spLocks xmlns:a="http://schemas.openxmlformats.org/drawingml/2006/main" noGrp="1"/>
          </p:cNvSpPr>
          <p:nvPr/>
        </p:nvSpPr>
        <p:spPr>
          <a:xfrm xmlns:a="http://schemas.openxmlformats.org/drawingml/2006/main">
            <a:off x="6264402" y="209550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3</a:t>
            </a:r>
          </a:p>
        </p:txBody>
      </p:sp>
      <p:sp>
        <p:nvSpPr>
          <p:cNvPr id="11" name="">
            <a:extLst xmlns:a="http://schemas.openxmlformats.org/drawingml/2006/main">
              <a:ext uri="{FF2B5EF4-FFF2-40B4-BE49-F238E27FC236}">
                <a16:creationId xmlns:a16="http://schemas.microsoft.com/office/drawing/2014/main" id="{24E5708C-694C-428E-96A3-4ABD81BC96D2}"/>
              </a:ext>
            </a:extLst>
          </p:cNvPr>
          <p:cNvSpPr>
            <a:spLocks xmlns:a="http://schemas.openxmlformats.org/drawingml/2006/main" noGrp="1"/>
          </p:cNvSpPr>
          <p:nvPr/>
        </p:nvSpPr>
        <p:spPr>
          <a:xfrm xmlns:a="http://schemas.openxmlformats.org/drawingml/2006/main">
            <a:off x="6264402" y="255270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FCA · CBC · Bank of Greece</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MFSA · PRA</a:t>
            </a:r>
          </a:p>
        </p:txBody>
      </p:sp>
      <p:sp>
        <p:nvSpPr>
          <p:cNvPr id="12" name="">
            <a:extLst xmlns:a="http://schemas.openxmlformats.org/drawingml/2006/main">
              <a:ext uri="{FF2B5EF4-FFF2-40B4-BE49-F238E27FC236}">
                <a16:creationId xmlns:a16="http://schemas.microsoft.com/office/drawing/2014/main" id="{624A191F-4BD9-4FD8-A71C-6CD3FE3FB2F7}"/>
              </a:ext>
            </a:extLst>
          </p:cNvPr>
          <p:cNvSpPr>
            <a:spLocks xmlns:a="http://schemas.openxmlformats.org/drawingml/2006/main" noGrp="1"/>
          </p:cNvSpPr>
          <p:nvPr/>
        </p:nvSpPr>
        <p:spPr>
          <a:xfrm xmlns:a="http://schemas.openxmlformats.org/drawingml/2006/main">
            <a:off x="6264402" y="192405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E878A3-674B-4CF7-A2AA-75EEA27B5910}"/>
              </a:ext>
            </a:extLst>
          </p:cNvPr>
          <p:cNvSpPr>
            <a:spLocks xmlns:a="http://schemas.openxmlformats.org/drawingml/2006/main" noGrp="1"/>
          </p:cNvSpPr>
          <p:nvPr/>
        </p:nvSpPr>
        <p:spPr>
          <a:xfrm xmlns:a="http://schemas.openxmlformats.org/drawingml/2006/main">
            <a:off x="9205722" y="209550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4</a:t>
            </a:r>
          </a:p>
        </p:txBody>
      </p:sp>
      <p:sp>
        <p:nvSpPr>
          <p:cNvPr id="14" name="">
            <a:extLst xmlns:a="http://schemas.openxmlformats.org/drawingml/2006/main">
              <a:ext uri="{FF2B5EF4-FFF2-40B4-BE49-F238E27FC236}">
                <a16:creationId xmlns:a16="http://schemas.microsoft.com/office/drawing/2014/main" id="{617A8132-D82D-4685-93C3-134908FD7BD3}"/>
              </a:ext>
            </a:extLst>
          </p:cNvPr>
          <p:cNvSpPr>
            <a:spLocks xmlns:a="http://schemas.openxmlformats.org/drawingml/2006/main" noGrp="1"/>
          </p:cNvSpPr>
          <p:nvPr/>
        </p:nvSpPr>
        <p:spPr>
          <a:xfrm xmlns:a="http://schemas.openxmlformats.org/drawingml/2006/main">
            <a:off x="9205722" y="255270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SRB · FISMA · FSB</a:t>
            </a:r>
          </a:p>
        </p:txBody>
      </p:sp>
      <p:sp>
        <p:nvSpPr>
          <p:cNvPr id="15" name="">
            <a:extLst xmlns:a="http://schemas.openxmlformats.org/drawingml/2006/main">
              <a:ext uri="{FF2B5EF4-FFF2-40B4-BE49-F238E27FC236}">
                <a16:creationId xmlns:a16="http://schemas.microsoft.com/office/drawing/2014/main" id="{FD037860-94D3-41FE-8D74-8191A1F8AED0}"/>
              </a:ext>
            </a:extLst>
          </p:cNvPr>
          <p:cNvSpPr>
            <a:spLocks xmlns:a="http://schemas.openxmlformats.org/drawingml/2006/main" noGrp="1"/>
          </p:cNvSpPr>
          <p:nvPr/>
        </p:nvSpPr>
        <p:spPr>
          <a:xfrm xmlns:a="http://schemas.openxmlformats.org/drawingml/2006/main">
            <a:off x="9205722" y="192405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8D0889-1BB4-44F9-9876-66B72BD578E1}"/>
              </a:ext>
            </a:extLst>
          </p:cNvPr>
          <p:cNvSpPr>
            <a:spLocks xmlns:a="http://schemas.openxmlformats.org/drawingml/2006/main" noGrp="1"/>
          </p:cNvSpPr>
          <p:nvPr/>
        </p:nvSpPr>
        <p:spPr>
          <a:xfrm xmlns:a="http://schemas.openxmlformats.org/drawingml/2006/main">
            <a:off x="393668" y="409575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5</a:t>
            </a:r>
          </a:p>
        </p:txBody>
      </p:sp>
      <p:sp>
        <p:nvSpPr>
          <p:cNvPr id="17" name="">
            <a:extLst xmlns:a="http://schemas.openxmlformats.org/drawingml/2006/main">
              <a:ext uri="{FF2B5EF4-FFF2-40B4-BE49-F238E27FC236}">
                <a16:creationId xmlns:a16="http://schemas.microsoft.com/office/drawing/2014/main" id="{CCA30825-A804-464F-9053-21435933B51D}"/>
              </a:ext>
            </a:extLst>
          </p:cNvPr>
          <p:cNvSpPr>
            <a:spLocks xmlns:a="http://schemas.openxmlformats.org/drawingml/2006/main" noGrp="1"/>
          </p:cNvSpPr>
          <p:nvPr/>
        </p:nvSpPr>
        <p:spPr>
          <a:xfrm xmlns:a="http://schemas.openxmlformats.org/drawingml/2006/main">
            <a:off x="393668" y="455295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BCBS · BIS · FSB</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FATF · IFRS/IASB</a:t>
            </a:r>
          </a:p>
        </p:txBody>
      </p:sp>
      <p:sp>
        <p:nvSpPr>
          <p:cNvPr id="18" name="">
            <a:extLst xmlns:a="http://schemas.openxmlformats.org/drawingml/2006/main">
              <a:ext uri="{FF2B5EF4-FFF2-40B4-BE49-F238E27FC236}">
                <a16:creationId xmlns:a16="http://schemas.microsoft.com/office/drawing/2014/main" id="{737BB9ED-BC85-4A8E-B1C7-A30C2E1BBD6C}"/>
              </a:ext>
            </a:extLst>
          </p:cNvPr>
          <p:cNvSpPr>
            <a:spLocks xmlns:a="http://schemas.openxmlformats.org/drawingml/2006/main" noGrp="1"/>
          </p:cNvSpPr>
          <p:nvPr/>
        </p:nvSpPr>
        <p:spPr>
          <a:xfrm xmlns:a="http://schemas.openxmlformats.org/drawingml/2006/main">
            <a:off x="393668" y="392430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BE448B1-34AC-47CC-86D5-7ECCBD5D1960}"/>
              </a:ext>
            </a:extLst>
          </p:cNvPr>
          <p:cNvSpPr>
            <a:spLocks xmlns:a="http://schemas.openxmlformats.org/drawingml/2006/main" noGrp="1"/>
          </p:cNvSpPr>
          <p:nvPr/>
        </p:nvSpPr>
        <p:spPr>
          <a:xfrm xmlns:a="http://schemas.openxmlformats.org/drawingml/2006/main">
            <a:off x="3334988" y="409575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6</a:t>
            </a:r>
          </a:p>
        </p:txBody>
      </p:sp>
      <p:sp>
        <p:nvSpPr>
          <p:cNvPr id="20" name="">
            <a:extLst xmlns:a="http://schemas.openxmlformats.org/drawingml/2006/main">
              <a:ext uri="{FF2B5EF4-FFF2-40B4-BE49-F238E27FC236}">
                <a16:creationId xmlns:a16="http://schemas.microsoft.com/office/drawing/2014/main" id="{66D23F6A-BB30-4804-B821-D26481C6F8F8}"/>
              </a:ext>
            </a:extLst>
          </p:cNvPr>
          <p:cNvSpPr>
            <a:spLocks xmlns:a="http://schemas.openxmlformats.org/drawingml/2006/main" noGrp="1"/>
          </p:cNvSpPr>
          <p:nvPr/>
        </p:nvSpPr>
        <p:spPr>
          <a:xfrm xmlns:a="http://schemas.openxmlformats.org/drawingml/2006/main">
            <a:off x="3334988" y="455295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ESRB · AMLA · FATF · FSB</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ESMA · FISMA · EUR-Lex</a:t>
            </a:r>
          </a:p>
        </p:txBody>
      </p:sp>
      <p:sp>
        <p:nvSpPr>
          <p:cNvPr id="21" name="">
            <a:extLst xmlns:a="http://schemas.openxmlformats.org/drawingml/2006/main">
              <a:ext uri="{FF2B5EF4-FFF2-40B4-BE49-F238E27FC236}">
                <a16:creationId xmlns:a16="http://schemas.microsoft.com/office/drawing/2014/main" id="{4A383920-88D0-488F-8F38-9AA4226F9ECD}"/>
              </a:ext>
            </a:extLst>
          </p:cNvPr>
          <p:cNvSpPr>
            <a:spLocks xmlns:a="http://schemas.openxmlformats.org/drawingml/2006/main" noGrp="1"/>
          </p:cNvSpPr>
          <p:nvPr/>
        </p:nvSpPr>
        <p:spPr>
          <a:xfrm xmlns:a="http://schemas.openxmlformats.org/drawingml/2006/main">
            <a:off x="3334988" y="392430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54435A2-AC4B-49FB-BE6E-044863FF669B}"/>
              </a:ext>
            </a:extLst>
          </p:cNvPr>
          <p:cNvSpPr>
            <a:spLocks xmlns:a="http://schemas.openxmlformats.org/drawingml/2006/main" noGrp="1"/>
          </p:cNvSpPr>
          <p:nvPr/>
        </p:nvSpPr>
        <p:spPr>
          <a:xfrm xmlns:a="http://schemas.openxmlformats.org/drawingml/2006/main">
            <a:off x="6264402" y="409575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Group 7</a:t>
            </a:r>
          </a:p>
        </p:txBody>
      </p:sp>
      <p:sp>
        <p:nvSpPr>
          <p:cNvPr id="23" name="">
            <a:extLst xmlns:a="http://schemas.openxmlformats.org/drawingml/2006/main">
              <a:ext uri="{FF2B5EF4-FFF2-40B4-BE49-F238E27FC236}">
                <a16:creationId xmlns:a16="http://schemas.microsoft.com/office/drawing/2014/main" id="{D1A1E120-7F70-4112-A9E9-4B9E412DABAA}"/>
              </a:ext>
            </a:extLst>
          </p:cNvPr>
          <p:cNvSpPr>
            <a:spLocks xmlns:a="http://schemas.openxmlformats.org/drawingml/2006/main" noGrp="1"/>
          </p:cNvSpPr>
          <p:nvPr/>
        </p:nvSpPr>
        <p:spPr>
          <a:xfrm xmlns:a="http://schemas.openxmlformats.org/drawingml/2006/main">
            <a:off x="6264402" y="455295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European Banking Federation</a:t>
            </a:r>
          </a:p>
        </p:txBody>
      </p:sp>
      <p:sp>
        <p:nvSpPr>
          <p:cNvPr id="24" name="">
            <a:extLst xmlns:a="http://schemas.openxmlformats.org/drawingml/2006/main">
              <a:ext uri="{FF2B5EF4-FFF2-40B4-BE49-F238E27FC236}">
                <a16:creationId xmlns:a16="http://schemas.microsoft.com/office/drawing/2014/main" id="{AA82BF35-60B2-4611-8E3E-780FB0EDB6EE}"/>
              </a:ext>
            </a:extLst>
          </p:cNvPr>
          <p:cNvSpPr>
            <a:spLocks xmlns:a="http://schemas.openxmlformats.org/drawingml/2006/main" noGrp="1"/>
          </p:cNvSpPr>
          <p:nvPr/>
        </p:nvSpPr>
        <p:spPr>
          <a:xfrm xmlns:a="http://schemas.openxmlformats.org/drawingml/2006/main">
            <a:off x="6264402" y="3924300"/>
            <a:ext cx="4953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7267394-2E30-40C5-8DD7-E6179AC1F4A4}"/>
              </a:ext>
            </a:extLst>
          </p:cNvPr>
          <p:cNvSpPr>
            <a:spLocks xmlns:a="http://schemas.openxmlformats.org/drawingml/2006/main" noGrp="1"/>
          </p:cNvSpPr>
          <p:nvPr/>
        </p:nvSpPr>
        <p:spPr>
          <a:xfrm xmlns:a="http://schemas.openxmlformats.org/drawingml/2006/main">
            <a:off x="9205722" y="4095750"/>
            <a:ext cx="259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Shared controller</a:t>
            </a:r>
          </a:p>
        </p:txBody>
      </p:sp>
      <p:sp>
        <p:nvSpPr>
          <p:cNvPr id="26" name="">
            <a:extLst xmlns:a="http://schemas.openxmlformats.org/drawingml/2006/main">
              <a:ext uri="{FF2B5EF4-FFF2-40B4-BE49-F238E27FC236}">
                <a16:creationId xmlns:a16="http://schemas.microsoft.com/office/drawing/2014/main" id="{E2F9DD99-59BE-40C5-BC45-38FC67B39DE0}"/>
              </a:ext>
            </a:extLst>
          </p:cNvPr>
          <p:cNvSpPr>
            <a:spLocks xmlns:a="http://schemas.openxmlformats.org/drawingml/2006/main" noGrp="1"/>
          </p:cNvSpPr>
          <p:nvPr/>
        </p:nvSpPr>
        <p:spPr>
          <a:xfrm xmlns:a="http://schemas.openxmlformats.org/drawingml/2006/main">
            <a:off x="9205722" y="4552950"/>
            <a:ext cx="259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Runs selected groups in order</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and combines their reports</a:t>
            </a:r>
          </a:p>
        </p:txBody>
      </p:sp>
      <p:sp>
        <p:nvSpPr>
          <p:cNvPr id="27" name="">
            <a:extLst xmlns:a="http://schemas.openxmlformats.org/drawingml/2006/main">
              <a:ext uri="{FF2B5EF4-FFF2-40B4-BE49-F238E27FC236}">
                <a16:creationId xmlns:a16="http://schemas.microsoft.com/office/drawing/2014/main" id="{C4C94256-54CC-4074-8004-A19AA9AF0C55}"/>
              </a:ext>
            </a:extLst>
          </p:cNvPr>
          <p:cNvSpPr>
            <a:spLocks xmlns:a="http://schemas.openxmlformats.org/drawingml/2006/main" noGrp="1"/>
          </p:cNvSpPr>
          <p:nvPr/>
        </p:nvSpPr>
        <p:spPr>
          <a:xfrm xmlns:a="http://schemas.openxmlformats.org/drawingml/2006/main">
            <a:off x="9205722" y="3924300"/>
            <a:ext cx="4953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7030022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48CF928F-50CA-4BF8-8DBB-7306E50CE010}"/>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The program was built in three short iterations</a:t>
            </a:r>
          </a:p>
        </p:txBody>
      </p:sp>
      <p:sp>
        <p:nvSpPr>
          <p:cNvPr id="2" name="title-accent">
            <a:extLst xmlns:a="http://schemas.openxmlformats.org/drawingml/2006/main">
              <a:ext uri="{FF2B5EF4-FFF2-40B4-BE49-F238E27FC236}">
                <a16:creationId xmlns:a16="http://schemas.microsoft.com/office/drawing/2014/main" id="{F70B9138-5AB5-4B69-A1FD-8740E3CC9744}"/>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76F82153-6958-4069-B8BB-51FC6D8C9FB6}"/>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4</a:t>
            </a:r>
          </a:p>
        </p:txBody>
      </p:sp>
      <p:sp>
        <p:nvSpPr>
          <p:cNvPr id="4" name="timeline">
            <a:extLst xmlns:a="http://schemas.openxmlformats.org/drawingml/2006/main">
              <a:ext uri="{FF2B5EF4-FFF2-40B4-BE49-F238E27FC236}">
                <a16:creationId xmlns:a16="http://schemas.microsoft.com/office/drawing/2014/main" id="{AFDD2106-79E1-4E6C-BF53-B74C9E1BC985}"/>
              </a:ext>
            </a:extLst>
          </p:cNvPr>
          <p:cNvSpPr>
            <a:spLocks xmlns:a="http://schemas.openxmlformats.org/drawingml/2006/main" noGrp="1"/>
          </p:cNvSpPr>
          <p:nvPr/>
        </p:nvSpPr>
        <p:spPr>
          <a:xfrm xmlns:a="http://schemas.openxmlformats.org/drawingml/2006/main">
            <a:off x="390525" y="3352800"/>
            <a:ext cx="10953750" cy="19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A8BD0F-FBE6-40EA-9791-1F1F540802BD}"/>
              </a:ext>
            </a:extLst>
          </p:cNvPr>
          <p:cNvSpPr>
            <a:spLocks xmlns:a="http://schemas.openxmlformats.org/drawingml/2006/main" noGrp="1"/>
          </p:cNvSpPr>
          <p:nvPr/>
        </p:nvSpPr>
        <p:spPr>
          <a:xfrm xmlns:a="http://schemas.openxmlformats.org/drawingml/2006/main">
            <a:off x="390525"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1 · PROTOTYPE</a:t>
            </a:r>
          </a:p>
        </p:txBody>
      </p:sp>
      <p:sp>
        <p:nvSpPr>
          <p:cNvPr id="6" name="">
            <a:extLst xmlns:a="http://schemas.openxmlformats.org/drawingml/2006/main">
              <a:ext uri="{FF2B5EF4-FFF2-40B4-BE49-F238E27FC236}">
                <a16:creationId xmlns:a16="http://schemas.microsoft.com/office/drawing/2014/main" id="{BF85C560-721B-48E5-BE8D-20B17820AE77}"/>
              </a:ext>
            </a:extLst>
          </p:cNvPr>
          <p:cNvSpPr>
            <a:spLocks xmlns:a="http://schemas.openxmlformats.org/drawingml/2006/main" noGrp="1"/>
          </p:cNvSpPr>
          <p:nvPr/>
        </p:nvSpPr>
        <p:spPr>
          <a:xfrm xmlns:a="http://schemas.openxmlformats.org/drawingml/2006/main">
            <a:off x="390525" y="3286125"/>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12C577-3675-4E27-A178-358F74A2FDD1}"/>
              </a:ext>
            </a:extLst>
          </p:cNvPr>
          <p:cNvSpPr>
            <a:spLocks xmlns:a="http://schemas.openxmlformats.org/drawingml/2006/main" noGrp="1"/>
          </p:cNvSpPr>
          <p:nvPr/>
        </p:nvSpPr>
        <p:spPr>
          <a:xfrm xmlns:a="http://schemas.openxmlformats.org/drawingml/2006/main">
            <a:off x="390525" y="37909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Create group monitors</a:t>
            </a:r>
          </a:p>
        </p:txBody>
      </p:sp>
      <p:sp>
        <p:nvSpPr>
          <p:cNvPr id="8" name="">
            <a:extLst xmlns:a="http://schemas.openxmlformats.org/drawingml/2006/main">
              <a:ext uri="{FF2B5EF4-FFF2-40B4-BE49-F238E27FC236}">
                <a16:creationId xmlns:a16="http://schemas.microsoft.com/office/drawing/2014/main" id="{F45D8BC9-AFD1-4081-A352-8D6FBC5FB796}"/>
              </a:ext>
            </a:extLst>
          </p:cNvPr>
          <p:cNvSpPr>
            <a:spLocks xmlns:a="http://schemas.openxmlformats.org/drawingml/2006/main" noGrp="1"/>
          </p:cNvSpPr>
          <p:nvPr/>
        </p:nvSpPr>
        <p:spPr>
          <a:xfrm xmlns:a="http://schemas.openxmlformats.org/drawingml/2006/main">
            <a:off x="390525" y="4286250"/>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Build source-specific collectors for each regulator and standardize the output fields.</a:t>
            </a:r>
          </a:p>
        </p:txBody>
      </p:sp>
      <p:sp>
        <p:nvSpPr>
          <p:cNvPr id="9" name="">
            <a:extLst xmlns:a="http://schemas.openxmlformats.org/drawingml/2006/main">
              <a:ext uri="{FF2B5EF4-FFF2-40B4-BE49-F238E27FC236}">
                <a16:creationId xmlns:a16="http://schemas.microsoft.com/office/drawing/2014/main" id="{75BB0E5B-A173-4D8D-B1CA-3160EC06DDC2}"/>
              </a:ext>
            </a:extLst>
          </p:cNvPr>
          <p:cNvSpPr>
            <a:spLocks xmlns:a="http://schemas.openxmlformats.org/drawingml/2006/main" noGrp="1"/>
          </p:cNvSpPr>
          <p:nvPr/>
        </p:nvSpPr>
        <p:spPr>
          <a:xfrm xmlns:a="http://schemas.openxmlformats.org/drawingml/2006/main">
            <a:off x="4295775"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2 · QUALITY</a:t>
            </a:r>
          </a:p>
        </p:txBody>
      </p:sp>
      <p:sp>
        <p:nvSpPr>
          <p:cNvPr id="10" name="">
            <a:extLst xmlns:a="http://schemas.openxmlformats.org/drawingml/2006/main">
              <a:ext uri="{FF2B5EF4-FFF2-40B4-BE49-F238E27FC236}">
                <a16:creationId xmlns:a16="http://schemas.microsoft.com/office/drawing/2014/main" id="{DD66B54D-28E0-4364-BCF1-BDB9A1FB55D6}"/>
              </a:ext>
            </a:extLst>
          </p:cNvPr>
          <p:cNvSpPr>
            <a:spLocks xmlns:a="http://schemas.openxmlformats.org/drawingml/2006/main" noGrp="1"/>
          </p:cNvSpPr>
          <p:nvPr/>
        </p:nvSpPr>
        <p:spPr>
          <a:xfrm xmlns:a="http://schemas.openxmlformats.org/drawingml/2006/main">
            <a:off x="4295775" y="3286125"/>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D7CD10A-F838-473F-BF80-5C5F1EC9C34B}"/>
              </a:ext>
            </a:extLst>
          </p:cNvPr>
          <p:cNvSpPr>
            <a:spLocks xmlns:a="http://schemas.openxmlformats.org/drawingml/2006/main" noGrp="1"/>
          </p:cNvSpPr>
          <p:nvPr/>
        </p:nvSpPr>
        <p:spPr>
          <a:xfrm xmlns:a="http://schemas.openxmlformats.org/drawingml/2006/main">
            <a:off x="4295775" y="37909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Improve usefulness</a:t>
            </a:r>
          </a:p>
        </p:txBody>
      </p:sp>
      <p:sp>
        <p:nvSpPr>
          <p:cNvPr id="12" name="">
            <a:extLst xmlns:a="http://schemas.openxmlformats.org/drawingml/2006/main">
              <a:ext uri="{FF2B5EF4-FFF2-40B4-BE49-F238E27FC236}">
                <a16:creationId xmlns:a16="http://schemas.microsoft.com/office/drawing/2014/main" id="{4E8DE048-70AF-4A70-8DF4-95246143FB11}"/>
              </a:ext>
            </a:extLst>
          </p:cNvPr>
          <p:cNvSpPr>
            <a:spLocks xmlns:a="http://schemas.openxmlformats.org/drawingml/2006/main" noGrp="1"/>
          </p:cNvSpPr>
          <p:nvPr/>
        </p:nvSpPr>
        <p:spPr>
          <a:xfrm xmlns:a="http://schemas.openxmlformats.org/drawingml/2006/main">
            <a:off x="4295775" y="4286250"/>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Add recency and relevance filters, fuller descriptions and duplicate tracking.</a:t>
            </a:r>
          </a:p>
        </p:txBody>
      </p:sp>
      <p:sp>
        <p:nvSpPr>
          <p:cNvPr id="13" name="">
            <a:extLst xmlns:a="http://schemas.openxmlformats.org/drawingml/2006/main">
              <a:ext uri="{FF2B5EF4-FFF2-40B4-BE49-F238E27FC236}">
                <a16:creationId xmlns:a16="http://schemas.microsoft.com/office/drawing/2014/main" id="{5D235721-CF14-48BF-A869-89055E192DD8}"/>
              </a:ext>
            </a:extLst>
          </p:cNvPr>
          <p:cNvSpPr>
            <a:spLocks xmlns:a="http://schemas.openxmlformats.org/drawingml/2006/main" noGrp="1"/>
          </p:cNvSpPr>
          <p:nvPr/>
        </p:nvSpPr>
        <p:spPr>
          <a:xfrm xmlns:a="http://schemas.openxmlformats.org/drawingml/2006/main">
            <a:off x="8201025"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3 · PACKAGE</a:t>
            </a:r>
          </a:p>
        </p:txBody>
      </p:sp>
      <p:sp>
        <p:nvSpPr>
          <p:cNvPr id="14" name="">
            <a:extLst xmlns:a="http://schemas.openxmlformats.org/drawingml/2006/main">
              <a:ext uri="{FF2B5EF4-FFF2-40B4-BE49-F238E27FC236}">
                <a16:creationId xmlns:a16="http://schemas.microsoft.com/office/drawing/2014/main" id="{6F1CAB15-EC02-4AFD-9282-56CAE5C91936}"/>
              </a:ext>
            </a:extLst>
          </p:cNvPr>
          <p:cNvSpPr>
            <a:spLocks xmlns:a="http://schemas.openxmlformats.org/drawingml/2006/main" noGrp="1"/>
          </p:cNvSpPr>
          <p:nvPr/>
        </p:nvSpPr>
        <p:spPr>
          <a:xfrm xmlns:a="http://schemas.openxmlformats.org/drawingml/2006/main">
            <a:off x="8201025" y="3286125"/>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7C09746-1CE9-4CF7-BBAF-E268FF2248CE}"/>
              </a:ext>
            </a:extLst>
          </p:cNvPr>
          <p:cNvSpPr>
            <a:spLocks xmlns:a="http://schemas.openxmlformats.org/drawingml/2006/main" noGrp="1"/>
          </p:cNvSpPr>
          <p:nvPr/>
        </p:nvSpPr>
        <p:spPr>
          <a:xfrm xmlns:a="http://schemas.openxmlformats.org/drawingml/2006/main">
            <a:off x="8201025" y="37909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Combine and automate</a:t>
            </a:r>
          </a:p>
        </p:txBody>
      </p:sp>
      <p:sp>
        <p:nvSpPr>
          <p:cNvPr id="16" name="">
            <a:extLst xmlns:a="http://schemas.openxmlformats.org/drawingml/2006/main">
              <a:ext uri="{FF2B5EF4-FFF2-40B4-BE49-F238E27FC236}">
                <a16:creationId xmlns:a16="http://schemas.microsoft.com/office/drawing/2014/main" id="{0177B957-3DC5-49AE-B14C-1B39A073226C}"/>
              </a:ext>
            </a:extLst>
          </p:cNvPr>
          <p:cNvSpPr>
            <a:spLocks xmlns:a="http://schemas.openxmlformats.org/drawingml/2006/main" noGrp="1"/>
          </p:cNvSpPr>
          <p:nvPr/>
        </p:nvSpPr>
        <p:spPr>
          <a:xfrm xmlns:a="http://schemas.openxmlformats.org/drawingml/2006/main">
            <a:off x="8201025" y="4286250"/>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Add the controller, desktop UI, email foundation and portable EXE build.</a:t>
            </a:r>
          </a:p>
        </p:txBody>
      </p:sp>
    </p:spTree>
    <p:extLst>
      <p:ext uri="{BB962C8B-B14F-4D97-AF65-F5344CB8AC3E}">
        <p14:creationId xmlns:p14="http://schemas.microsoft.com/office/powerpoint/2010/main" val="635155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FD54BDBF-E874-4456-8902-71DEF543302C}"/>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Four practical challenges shaped the solution</a:t>
            </a:r>
          </a:p>
        </p:txBody>
      </p:sp>
      <p:sp>
        <p:nvSpPr>
          <p:cNvPr id="2" name="title-accent">
            <a:extLst xmlns:a="http://schemas.openxmlformats.org/drawingml/2006/main">
              <a:ext uri="{FF2B5EF4-FFF2-40B4-BE49-F238E27FC236}">
                <a16:creationId xmlns:a16="http://schemas.microsoft.com/office/drawing/2014/main" id="{5E4B2688-9A04-4802-ABC8-07E9A09685CE}"/>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E650F4FB-62DD-4545-A8B4-611471EE9D5C}"/>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5</a:t>
            </a:r>
          </a:p>
        </p:txBody>
      </p:sp>
      <p:sp>
        <p:nvSpPr>
          <p:cNvPr id="4" name="challenge-1">
            <a:extLst xmlns:a="http://schemas.openxmlformats.org/drawingml/2006/main">
              <a:ext uri="{FF2B5EF4-FFF2-40B4-BE49-F238E27FC236}">
                <a16:creationId xmlns:a16="http://schemas.microsoft.com/office/drawing/2014/main" id="{DA487D29-87BD-46BD-AE5B-04186819618D}"/>
              </a:ext>
            </a:extLst>
          </p:cNvPr>
          <p:cNvSpPr>
            <a:spLocks xmlns:a="http://schemas.openxmlformats.org/drawingml/2006/main" noGrp="1"/>
          </p:cNvSpPr>
          <p:nvPr/>
        </p:nvSpPr>
        <p:spPr>
          <a:xfrm xmlns:a="http://schemas.openxmlformats.org/drawingml/2006/main">
            <a:off x="393668" y="1952625"/>
            <a:ext cx="5537168" cy="16383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55444B-AEDC-4D29-98B5-4861C403BF0A}"/>
              </a:ext>
            </a:extLst>
          </p:cNvPr>
          <p:cNvSpPr>
            <a:spLocks xmlns:a="http://schemas.openxmlformats.org/drawingml/2006/main" noGrp="1"/>
          </p:cNvSpPr>
          <p:nvPr/>
        </p:nvSpPr>
        <p:spPr>
          <a:xfrm xmlns:a="http://schemas.openxmlformats.org/drawingml/2006/main">
            <a:off x="603218" y="214312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Different website structures</a:t>
            </a:r>
          </a:p>
        </p:txBody>
      </p:sp>
      <p:sp>
        <p:nvSpPr>
          <p:cNvPr id="6" name="">
            <a:extLst xmlns:a="http://schemas.openxmlformats.org/drawingml/2006/main">
              <a:ext uri="{FF2B5EF4-FFF2-40B4-BE49-F238E27FC236}">
                <a16:creationId xmlns:a16="http://schemas.microsoft.com/office/drawing/2014/main" id="{0100D1B4-EE4B-45FB-95B2-FEE611920CDC}"/>
              </a:ext>
            </a:extLst>
          </p:cNvPr>
          <p:cNvSpPr>
            <a:spLocks xmlns:a="http://schemas.openxmlformats.org/drawingml/2006/main" noGrp="1"/>
          </p:cNvSpPr>
          <p:nvPr/>
        </p:nvSpPr>
        <p:spPr>
          <a:xfrm xmlns:a="http://schemas.openxmlformats.org/drawingml/2006/main">
            <a:off x="603218" y="2543175"/>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Each authority publishes differently, so the program uses source-specific parsers and fallbacks.</a:t>
            </a:r>
          </a:p>
        </p:txBody>
      </p:sp>
      <p:sp>
        <p:nvSpPr>
          <p:cNvPr id="7" name="challenge-2">
            <a:extLst xmlns:a="http://schemas.openxmlformats.org/drawingml/2006/main">
              <a:ext uri="{FF2B5EF4-FFF2-40B4-BE49-F238E27FC236}">
                <a16:creationId xmlns:a16="http://schemas.microsoft.com/office/drawing/2014/main" id="{0AEB1D36-907B-4771-9D16-78CC1F533CA6}"/>
              </a:ext>
            </a:extLst>
          </p:cNvPr>
          <p:cNvSpPr>
            <a:spLocks xmlns:a="http://schemas.openxmlformats.org/drawingml/2006/main" noGrp="1"/>
          </p:cNvSpPr>
          <p:nvPr/>
        </p:nvSpPr>
        <p:spPr>
          <a:xfrm xmlns:a="http://schemas.openxmlformats.org/drawingml/2006/main">
            <a:off x="6256592" y="1952625"/>
            <a:ext cx="5537168" cy="16383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1F0A9F-0568-41CB-94CE-94289A87A1A8}"/>
              </a:ext>
            </a:extLst>
          </p:cNvPr>
          <p:cNvSpPr>
            <a:spLocks xmlns:a="http://schemas.openxmlformats.org/drawingml/2006/main" noGrp="1"/>
          </p:cNvSpPr>
          <p:nvPr/>
        </p:nvSpPr>
        <p:spPr>
          <a:xfrm xmlns:a="http://schemas.openxmlformats.org/drawingml/2006/main">
            <a:off x="6466142" y="214312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Old or noisy content</a:t>
            </a:r>
          </a:p>
        </p:txBody>
      </p:sp>
      <p:sp>
        <p:nvSpPr>
          <p:cNvPr id="9" name="">
            <a:extLst xmlns:a="http://schemas.openxmlformats.org/drawingml/2006/main">
              <a:ext uri="{FF2B5EF4-FFF2-40B4-BE49-F238E27FC236}">
                <a16:creationId xmlns:a16="http://schemas.microsoft.com/office/drawing/2014/main" id="{CD906654-26B0-4789-8676-D0029A1CAEF2}"/>
              </a:ext>
            </a:extLst>
          </p:cNvPr>
          <p:cNvSpPr>
            <a:spLocks xmlns:a="http://schemas.openxmlformats.org/drawingml/2006/main" noGrp="1"/>
          </p:cNvSpPr>
          <p:nvPr/>
        </p:nvSpPr>
        <p:spPr>
          <a:xfrm xmlns:a="http://schemas.openxmlformats.org/drawingml/2006/main">
            <a:off x="6466142" y="2543175"/>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Recency windows and regulatory-topic filters reduce speeches, general news and outdated material.</a:t>
            </a:r>
          </a:p>
        </p:txBody>
      </p:sp>
      <p:sp>
        <p:nvSpPr>
          <p:cNvPr id="10" name="challenge-3">
            <a:extLst xmlns:a="http://schemas.openxmlformats.org/drawingml/2006/main">
              <a:ext uri="{FF2B5EF4-FFF2-40B4-BE49-F238E27FC236}">
                <a16:creationId xmlns:a16="http://schemas.microsoft.com/office/drawing/2014/main" id="{11851219-EFC4-46B4-886A-D2DF721ABD10}"/>
              </a:ext>
            </a:extLst>
          </p:cNvPr>
          <p:cNvSpPr>
            <a:spLocks xmlns:a="http://schemas.openxmlformats.org/drawingml/2006/main" noGrp="1"/>
          </p:cNvSpPr>
          <p:nvPr/>
        </p:nvSpPr>
        <p:spPr>
          <a:xfrm xmlns:a="http://schemas.openxmlformats.org/drawingml/2006/main">
            <a:off x="393668" y="3981450"/>
            <a:ext cx="5537168" cy="163830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84B472-2EB0-4A8A-943D-581F6961DF1B}"/>
              </a:ext>
            </a:extLst>
          </p:cNvPr>
          <p:cNvSpPr>
            <a:spLocks xmlns:a="http://schemas.openxmlformats.org/drawingml/2006/main" noGrp="1"/>
          </p:cNvSpPr>
          <p:nvPr/>
        </p:nvSpPr>
        <p:spPr>
          <a:xfrm xmlns:a="http://schemas.openxmlformats.org/drawingml/2006/main">
            <a:off x="603218" y="4171950"/>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Arial"/>
                <a:ea typeface="Arial"/>
                <a:cs typeface="Arial"/>
              </a:defRPr>
            </a:pPr>
            <a:r>
              <a:rPr sz="1650" b="1">
                <a:solidFill>
                  <a:srgbClr val="000000"/>
                </a:solidFill>
                <a:latin typeface="Arial"/>
                <a:ea typeface="Arial"/>
                <a:cs typeface="Arial"/>
              </a:rPr>
              <a:t>Descriptions lacked context</a:t>
            </a:r>
          </a:p>
        </p:txBody>
      </p:sp>
      <p:sp>
        <p:nvSpPr>
          <p:cNvPr id="12" name="">
            <a:extLst xmlns:a="http://schemas.openxmlformats.org/drawingml/2006/main">
              <a:ext uri="{FF2B5EF4-FFF2-40B4-BE49-F238E27FC236}">
                <a16:creationId xmlns:a16="http://schemas.microsoft.com/office/drawing/2014/main" id="{0E088B20-EFBB-4424-B9D4-421D713E001C}"/>
              </a:ext>
            </a:extLst>
          </p:cNvPr>
          <p:cNvSpPr>
            <a:spLocks xmlns:a="http://schemas.openxmlformats.org/drawingml/2006/main" noGrp="1"/>
          </p:cNvSpPr>
          <p:nvPr/>
        </p:nvSpPr>
        <p:spPr>
          <a:xfrm xmlns:a="http://schemas.openxmlformats.org/drawingml/2006/main">
            <a:off x="603218" y="457200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Detail-page text is cleaned and summarized so the report is useful without opening every link.</a:t>
            </a:r>
          </a:p>
        </p:txBody>
      </p:sp>
      <p:sp>
        <p:nvSpPr>
          <p:cNvPr id="13" name="challenge-4">
            <a:extLst xmlns:a="http://schemas.openxmlformats.org/drawingml/2006/main">
              <a:ext uri="{FF2B5EF4-FFF2-40B4-BE49-F238E27FC236}">
                <a16:creationId xmlns:a16="http://schemas.microsoft.com/office/drawing/2014/main" id="{0B606ED3-B178-49BE-9D8F-47202E07A883}"/>
              </a:ext>
            </a:extLst>
          </p:cNvPr>
          <p:cNvSpPr>
            <a:spLocks xmlns:a="http://schemas.openxmlformats.org/drawingml/2006/main" noGrp="1"/>
          </p:cNvSpPr>
          <p:nvPr/>
        </p:nvSpPr>
        <p:spPr>
          <a:xfrm xmlns:a="http://schemas.openxmlformats.org/drawingml/2006/main">
            <a:off x="6256592" y="3981450"/>
            <a:ext cx="5537168" cy="16383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096749-E732-44D4-9845-F24BF06EDABB}"/>
              </a:ext>
            </a:extLst>
          </p:cNvPr>
          <p:cNvSpPr>
            <a:spLocks xmlns:a="http://schemas.openxmlformats.org/drawingml/2006/main" noGrp="1"/>
          </p:cNvSpPr>
          <p:nvPr/>
        </p:nvSpPr>
        <p:spPr>
          <a:xfrm xmlns:a="http://schemas.openxmlformats.org/drawingml/2006/main">
            <a:off x="6466142" y="4171950"/>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Outlook depends on the laptop</a:t>
            </a:r>
          </a:p>
        </p:txBody>
      </p:sp>
      <p:sp>
        <p:nvSpPr>
          <p:cNvPr id="15" name="">
            <a:extLst xmlns:a="http://schemas.openxmlformats.org/drawingml/2006/main">
              <a:ext uri="{FF2B5EF4-FFF2-40B4-BE49-F238E27FC236}">
                <a16:creationId xmlns:a16="http://schemas.microsoft.com/office/drawing/2014/main" id="{D3724A5C-1444-4B56-8B2A-382DD50BF1BD}"/>
              </a:ext>
            </a:extLst>
          </p:cNvPr>
          <p:cNvSpPr>
            <a:spLocks xmlns:a="http://schemas.openxmlformats.org/drawingml/2006/main" noGrp="1"/>
          </p:cNvSpPr>
          <p:nvPr/>
        </p:nvSpPr>
        <p:spPr>
          <a:xfrm xmlns:a="http://schemas.openxmlformats.org/drawingml/2006/main">
            <a:off x="6466142" y="457200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Email uses Classic Outlook COM; account access and corporate controls must be validated locally.</a:t>
            </a:r>
          </a:p>
        </p:txBody>
      </p:sp>
    </p:spTree>
    <p:extLst>
      <p:ext uri="{BB962C8B-B14F-4D97-AF65-F5344CB8AC3E}">
        <p14:creationId xmlns:p14="http://schemas.microsoft.com/office/powerpoint/2010/main" val="19374013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AFC7086-E1BA-4B50-A1C9-2196A006DFC5}"/>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Every run collects, filters and remembers</a:t>
            </a:r>
          </a:p>
        </p:txBody>
      </p:sp>
      <p:sp>
        <p:nvSpPr>
          <p:cNvPr id="2" name="title-accent">
            <a:extLst xmlns:a="http://schemas.openxmlformats.org/drawingml/2006/main">
              <a:ext uri="{FF2B5EF4-FFF2-40B4-BE49-F238E27FC236}">
                <a16:creationId xmlns:a16="http://schemas.microsoft.com/office/drawing/2014/main" id="{A8127997-A131-409F-BEDE-7E95DAD72C97}"/>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68570130-29AC-4665-8BBC-754113478BC5}"/>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B18A9E53-4E04-4B24-94E2-52E95DB2E91F}"/>
              </a:ext>
            </a:extLst>
          </p:cNvPr>
          <p:cNvSpPr>
            <a:spLocks xmlns:a="http://schemas.openxmlformats.org/drawingml/2006/main" noGrp="1"/>
          </p:cNvSpPr>
          <p:nvPr/>
        </p:nvSpPr>
        <p:spPr>
          <a:xfrm xmlns:a="http://schemas.openxmlformats.org/drawingml/2006/main">
            <a:off x="393668" y="1952625"/>
            <a:ext cx="5537168" cy="3714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68E91B-E277-4269-B37D-CD4D496959EF}"/>
              </a:ext>
            </a:extLst>
          </p:cNvPr>
          <p:cNvSpPr>
            <a:spLocks xmlns:a="http://schemas.openxmlformats.org/drawingml/2006/main" noGrp="1"/>
          </p:cNvSpPr>
          <p:nvPr/>
        </p:nvSpPr>
        <p:spPr>
          <a:xfrm xmlns:a="http://schemas.openxmlformats.org/drawingml/2006/main">
            <a:off x="6256592" y="1952625"/>
            <a:ext cx="5537168" cy="37147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3B696E-472E-49D8-BBAA-2827CD89A2D8}"/>
              </a:ext>
            </a:extLst>
          </p:cNvPr>
          <p:cNvSpPr>
            <a:spLocks xmlns:a="http://schemas.openxmlformats.org/drawingml/2006/main" noGrp="1"/>
          </p:cNvSpPr>
          <p:nvPr/>
        </p:nvSpPr>
        <p:spPr>
          <a:xfrm xmlns:a="http://schemas.openxmlformats.org/drawingml/2006/main">
            <a:off x="695325" y="2238375"/>
            <a:ext cx="490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What happens during a run</a:t>
            </a:r>
          </a:p>
        </p:txBody>
      </p:sp>
      <p:sp>
        <p:nvSpPr>
          <p:cNvPr id="7" name="">
            <a:extLst xmlns:a="http://schemas.openxmlformats.org/drawingml/2006/main">
              <a:ext uri="{FF2B5EF4-FFF2-40B4-BE49-F238E27FC236}">
                <a16:creationId xmlns:a16="http://schemas.microsoft.com/office/drawing/2014/main" id="{72C3C896-187E-4FAC-8EF3-D5FE82E8FCE7}"/>
              </a:ext>
            </a:extLst>
          </p:cNvPr>
          <p:cNvSpPr>
            <a:spLocks xmlns:a="http://schemas.openxmlformats.org/drawingml/2006/main" noGrp="1"/>
          </p:cNvSpPr>
          <p:nvPr/>
        </p:nvSpPr>
        <p:spPr>
          <a:xfrm xmlns:a="http://schemas.openxmlformats.org/drawingml/2006/main">
            <a:off x="695325" y="2771775"/>
            <a:ext cx="4905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1  Collect official source pages</a:t>
            </a:r>
          </a:p>
          <a:p xmlns:a="http://schemas.openxmlformats.org/drawingml/2006/main">
            <a:r>
              <a:t/>
            </a:r>
          </a:p>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2  Normalize title, date, description and link</a:t>
            </a:r>
          </a:p>
          <a:p xmlns:a="http://schemas.openxmlformats.org/drawingml/2006/main">
            <a:r>
              <a:t/>
            </a:r>
          </a:p>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3  Keep recent, relevant regulatory material</a:t>
            </a:r>
          </a:p>
          <a:p xmlns:a="http://schemas.openxmlformats.org/drawingml/2006/main">
            <a:r>
              <a:t/>
            </a:r>
          </a:p>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4  Build one full text report</a:t>
            </a:r>
          </a:p>
        </p:txBody>
      </p:sp>
      <p:sp>
        <p:nvSpPr>
          <p:cNvPr id="8" name="">
            <a:extLst xmlns:a="http://schemas.openxmlformats.org/drawingml/2006/main">
              <a:ext uri="{FF2B5EF4-FFF2-40B4-BE49-F238E27FC236}">
                <a16:creationId xmlns:a16="http://schemas.microsoft.com/office/drawing/2014/main" id="{8065307E-2CC7-4F5D-86A5-6B8020DE9A58}"/>
              </a:ext>
            </a:extLst>
          </p:cNvPr>
          <p:cNvSpPr>
            <a:spLocks xmlns:a="http://schemas.openxmlformats.org/drawingml/2006/main" noGrp="1"/>
          </p:cNvSpPr>
          <p:nvPr/>
        </p:nvSpPr>
        <p:spPr>
          <a:xfrm xmlns:a="http://schemas.openxmlformats.org/drawingml/2006/main">
            <a:off x="6562725" y="2238375"/>
            <a:ext cx="490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Arial"/>
                <a:ea typeface="Arial"/>
                <a:cs typeface="Arial"/>
              </a:defRPr>
            </a:pPr>
            <a:r>
              <a:rPr sz="1875" b="1">
                <a:solidFill>
                  <a:srgbClr val="000000"/>
                </a:solidFill>
                <a:latin typeface="Arial"/>
                <a:ea typeface="Arial"/>
                <a:cs typeface="Arial"/>
              </a:rPr>
              <a:t>How it knows what is new</a:t>
            </a:r>
          </a:p>
        </p:txBody>
      </p:sp>
      <p:sp>
        <p:nvSpPr>
          <p:cNvPr id="9" name="">
            <a:extLst xmlns:a="http://schemas.openxmlformats.org/drawingml/2006/main">
              <a:ext uri="{FF2B5EF4-FFF2-40B4-BE49-F238E27FC236}">
                <a16:creationId xmlns:a16="http://schemas.microsoft.com/office/drawing/2014/main" id="{BDD80341-0DEA-4782-ABDB-96B69DC5CCBF}"/>
              </a:ext>
            </a:extLst>
          </p:cNvPr>
          <p:cNvSpPr>
            <a:spLocks xmlns:a="http://schemas.openxmlformats.org/drawingml/2006/main" noGrp="1"/>
          </p:cNvSpPr>
          <p:nvPr/>
        </p:nvSpPr>
        <p:spPr>
          <a:xfrm xmlns:a="http://schemas.openxmlformats.org/drawingml/2006/main">
            <a:off x="6562725" y="2771775"/>
            <a:ext cx="49053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A JSON history stores the unique links or identifiers already seen. The first run establishes a baseline; later runs output only unseen updates. Email mode stages history and commits it only after Outlook accepts the message.</a:t>
            </a:r>
          </a:p>
        </p:txBody>
      </p:sp>
    </p:spTree>
    <p:extLst>
      <p:ext uri="{BB962C8B-B14F-4D97-AF65-F5344CB8AC3E}">
        <p14:creationId xmlns:p14="http://schemas.microsoft.com/office/powerpoint/2010/main" val="8188638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3F3D9FF-2B3A-40F4-9D19-B3D407187D2D}"/>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Manual and scheduled runs produce the same detailed report</a:t>
            </a:r>
          </a:p>
        </p:txBody>
      </p:sp>
      <p:sp>
        <p:nvSpPr>
          <p:cNvPr id="2" name="title-accent">
            <a:extLst xmlns:a="http://schemas.openxmlformats.org/drawingml/2006/main">
              <a:ext uri="{FF2B5EF4-FFF2-40B4-BE49-F238E27FC236}">
                <a16:creationId xmlns:a16="http://schemas.microsoft.com/office/drawing/2014/main" id="{E7F6A03B-113C-459F-8FE6-9B823854287D}"/>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D8854223-BB89-4B9C-A6BD-CC4F2002A340}"/>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7475EDC3-0156-48C3-83BE-BF4DB6C7D288}"/>
              </a:ext>
            </a:extLst>
          </p:cNvPr>
          <p:cNvSpPr>
            <a:spLocks xmlns:a="http://schemas.openxmlformats.org/drawingml/2006/main" noGrp="1"/>
          </p:cNvSpPr>
          <p:nvPr/>
        </p:nvSpPr>
        <p:spPr>
          <a:xfrm xmlns:a="http://schemas.openxmlformats.org/drawingml/2006/main">
            <a:off x="400050" y="1285875"/>
            <a:ext cx="11144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The interface is used for on-demand work and settings. Windows Task Scheduler can later launch the same packaged application without opening the UI.</a:t>
            </a:r>
          </a:p>
        </p:txBody>
      </p:sp>
      <p:sp>
        <p:nvSpPr>
          <p:cNvPr id="5" name="">
            <a:extLst xmlns:a="http://schemas.openxmlformats.org/drawingml/2006/main">
              <a:ext uri="{FF2B5EF4-FFF2-40B4-BE49-F238E27FC236}">
                <a16:creationId xmlns:a16="http://schemas.microsoft.com/office/drawing/2014/main" id="{2297E5BD-181F-408A-BAE0-B04CB07F5CFF}"/>
              </a:ext>
            </a:extLst>
          </p:cNvPr>
          <p:cNvSpPr>
            <a:spLocks xmlns:a="http://schemas.openxmlformats.org/drawingml/2006/main" noGrp="1"/>
          </p:cNvSpPr>
          <p:nvPr/>
        </p:nvSpPr>
        <p:spPr>
          <a:xfrm xmlns:a="http://schemas.openxmlformats.org/drawingml/2006/main">
            <a:off x="397002" y="3009900"/>
            <a:ext cx="5533930" cy="1638300"/>
          </a:xfrm>
          <a:prstGeom xmlns:a="http://schemas.openxmlformats.org/drawingml/2006/main" prst="roundRect">
            <a:avLst>
              <a:gd name="adj" fmla="val 4651"/>
            </a:avLst>
          </a:prstGeom>
          <a:solidFill xmlns:a="http://schemas.openxmlformats.org/drawingml/2006/main">
            <a:srgbClr val="EAF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BBA8D71-3791-488C-A752-AD986E5367B9}"/>
              </a:ext>
            </a:extLst>
          </p:cNvPr>
          <p:cNvSpPr>
            <a:spLocks xmlns:a="http://schemas.openxmlformats.org/drawingml/2006/main" noGrp="1"/>
          </p:cNvSpPr>
          <p:nvPr/>
        </p:nvSpPr>
        <p:spPr>
          <a:xfrm xmlns:a="http://schemas.openxmlformats.org/drawingml/2006/main">
            <a:off x="6260783" y="3009900"/>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E99B6C-2C74-4794-9579-609CD9723A62}"/>
              </a:ext>
            </a:extLst>
          </p:cNvPr>
          <p:cNvSpPr>
            <a:spLocks xmlns:a="http://schemas.openxmlformats.org/drawingml/2006/main" noGrp="1"/>
          </p:cNvSpPr>
          <p:nvPr/>
        </p:nvSpPr>
        <p:spPr>
          <a:xfrm xmlns:a="http://schemas.openxmlformats.org/drawingml/2006/main">
            <a:off x="695325" y="32480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On demand · desktop UI</a:t>
            </a:r>
          </a:p>
        </p:txBody>
      </p:sp>
      <p:sp>
        <p:nvSpPr>
          <p:cNvPr id="8" name="">
            <a:extLst xmlns:a="http://schemas.openxmlformats.org/drawingml/2006/main">
              <a:ext uri="{FF2B5EF4-FFF2-40B4-BE49-F238E27FC236}">
                <a16:creationId xmlns:a16="http://schemas.microsoft.com/office/drawing/2014/main" id="{0FC6CBD4-A085-4F88-BF67-C8172EC6FFA0}"/>
              </a:ext>
            </a:extLst>
          </p:cNvPr>
          <p:cNvSpPr>
            <a:spLocks xmlns:a="http://schemas.openxmlformats.org/drawingml/2006/main" noGrp="1"/>
          </p:cNvSpPr>
          <p:nvPr/>
        </p:nvSpPr>
        <p:spPr>
          <a:xfrm xmlns:a="http://schemas.openxmlformats.org/drawingml/2006/main">
            <a:off x="695325" y="37242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Choose groups, select a folder, then save locally or generate and email the same report.</a:t>
            </a:r>
          </a:p>
        </p:txBody>
      </p:sp>
      <p:sp>
        <p:nvSpPr>
          <p:cNvPr id="9" name="">
            <a:extLst xmlns:a="http://schemas.openxmlformats.org/drawingml/2006/main">
              <a:ext uri="{FF2B5EF4-FFF2-40B4-BE49-F238E27FC236}">
                <a16:creationId xmlns:a16="http://schemas.microsoft.com/office/drawing/2014/main" id="{FFAAD1C3-8511-4E45-A42D-FA4A3F94E0F9}"/>
              </a:ext>
            </a:extLst>
          </p:cNvPr>
          <p:cNvSpPr>
            <a:spLocks xmlns:a="http://schemas.openxmlformats.org/drawingml/2006/main" noGrp="1"/>
          </p:cNvSpPr>
          <p:nvPr/>
        </p:nvSpPr>
        <p:spPr>
          <a:xfrm xmlns:a="http://schemas.openxmlformats.org/drawingml/2006/main">
            <a:off x="6562725" y="32480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Arial"/>
                <a:ea typeface="Arial"/>
                <a:cs typeface="Arial"/>
              </a:defRPr>
            </a:pPr>
            <a:r>
              <a:rPr sz="1875" b="1">
                <a:solidFill>
                  <a:srgbClr val="000000"/>
                </a:solidFill>
                <a:latin typeface="Arial"/>
                <a:ea typeface="Arial"/>
                <a:cs typeface="Arial"/>
              </a:rPr>
              <a:t>Automatic · Task Scheduler</a:t>
            </a:r>
          </a:p>
        </p:txBody>
      </p:sp>
      <p:sp>
        <p:nvSpPr>
          <p:cNvPr id="10" name="">
            <a:extLst xmlns:a="http://schemas.openxmlformats.org/drawingml/2006/main">
              <a:ext uri="{FF2B5EF4-FFF2-40B4-BE49-F238E27FC236}">
                <a16:creationId xmlns:a16="http://schemas.microsoft.com/office/drawing/2014/main" id="{E2215882-7E31-45A8-80F6-74D4CDE7DCF1}"/>
              </a:ext>
            </a:extLst>
          </p:cNvPr>
          <p:cNvSpPr>
            <a:spLocks xmlns:a="http://schemas.openxmlformats.org/drawingml/2006/main" noGrp="1"/>
          </p:cNvSpPr>
          <p:nvPr/>
        </p:nvSpPr>
        <p:spPr>
          <a:xfrm xmlns:a="http://schemas.openxmlformats.org/drawingml/2006/main">
            <a:off x="6562725" y="37242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Run RegulatoryMonitor.exe --scheduled to check all groups, email the report and write a log.</a:t>
            </a:r>
          </a:p>
        </p:txBody>
      </p:sp>
      <p:sp>
        <p:nvSpPr>
          <p:cNvPr id="11" name="">
            <a:extLst xmlns:a="http://schemas.openxmlformats.org/drawingml/2006/main">
              <a:ext uri="{FF2B5EF4-FFF2-40B4-BE49-F238E27FC236}">
                <a16:creationId xmlns:a16="http://schemas.microsoft.com/office/drawing/2014/main" id="{B1FC9B1A-B1EA-4458-925A-97EE3603F7F7}"/>
              </a:ext>
            </a:extLst>
          </p:cNvPr>
          <p:cNvSpPr>
            <a:spLocks xmlns:a="http://schemas.openxmlformats.org/drawingml/2006/main" noGrp="1"/>
          </p:cNvSpPr>
          <p:nvPr/>
        </p:nvSpPr>
        <p:spPr>
          <a:xfrm xmlns:a="http://schemas.openxmlformats.org/drawingml/2006/main">
            <a:off x="695325" y="4905375"/>
            <a:ext cx="5048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 Local-only runs do not require Outlook</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 Email runs use saved recipients and sender settings</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 Full output remains visible and is saved as TXT</a:t>
            </a:r>
          </a:p>
        </p:txBody>
      </p:sp>
      <p:sp>
        <p:nvSpPr>
          <p:cNvPr id="12" name="">
            <a:extLst xmlns:a="http://schemas.openxmlformats.org/drawingml/2006/main">
              <a:ext uri="{FF2B5EF4-FFF2-40B4-BE49-F238E27FC236}">
                <a16:creationId xmlns:a16="http://schemas.microsoft.com/office/drawing/2014/main" id="{FA65818B-641D-47E2-96E9-EFE15F221933}"/>
              </a:ext>
            </a:extLst>
          </p:cNvPr>
          <p:cNvSpPr>
            <a:spLocks xmlns:a="http://schemas.openxmlformats.org/drawingml/2006/main" noGrp="1"/>
          </p:cNvSpPr>
          <p:nvPr/>
        </p:nvSpPr>
        <p:spPr>
          <a:xfrm xmlns:a="http://schemas.openxmlformats.org/drawingml/2006/main">
            <a:off x="6562725" y="4905375"/>
            <a:ext cx="5048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 The UI does not need to be open</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 The laptop, internet and Outlook profile must be available</a:t>
            </a:r>
          </a:p>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 A ‘no new updates’ email can still be sent</a:t>
            </a:r>
          </a:p>
        </p:txBody>
      </p:sp>
    </p:spTree>
    <p:extLst>
      <p:ext uri="{BB962C8B-B14F-4D97-AF65-F5344CB8AC3E}">
        <p14:creationId xmlns:p14="http://schemas.microsoft.com/office/powerpoint/2010/main" val="13819241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slide-title">
            <a:extLst xmlns:a="http://schemas.openxmlformats.org/drawingml/2006/main">
              <a:ext uri="{FF2B5EF4-FFF2-40B4-BE49-F238E27FC236}">
                <a16:creationId xmlns:a16="http://schemas.microsoft.com/office/drawing/2014/main" id="{01A67528-DB04-47AB-A2CC-13427E7C7BBF}"/>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The interface separates setup from execution</a:t>
            </a:r>
          </a:p>
        </p:txBody>
      </p:sp>
      <p:sp>
        <p:nvSpPr>
          <p:cNvPr id="2" name="title-accent">
            <a:extLst xmlns:a="http://schemas.openxmlformats.org/drawingml/2006/main">
              <a:ext uri="{FF2B5EF4-FFF2-40B4-BE49-F238E27FC236}">
                <a16:creationId xmlns:a16="http://schemas.microsoft.com/office/drawing/2014/main" id="{34691A39-0779-4DD0-BF73-E24744727B5B}"/>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A39F3EEE-0245-4B96-BD64-2EC270502BE6}"/>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E81D651F-005E-415A-9E86-DCE2339F6C5B}"/>
              </a:ext>
            </a:extLst>
          </p:cNvPr>
          <p:cNvSpPr>
            <a:spLocks xmlns:a="http://schemas.openxmlformats.org/drawingml/2006/main" noGrp="1"/>
          </p:cNvSpPr>
          <p:nvPr/>
        </p:nvSpPr>
        <p:spPr>
          <a:xfrm xmlns:a="http://schemas.openxmlformats.org/drawingml/2006/main">
            <a:off x="393668" y="1952625"/>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Everything needed is on one screen</a:t>
            </a:r>
          </a:p>
        </p:txBody>
      </p:sp>
      <p:sp>
        <p:nvSpPr>
          <p:cNvPr id="5" name="">
            <a:extLst xmlns:a="http://schemas.openxmlformats.org/drawingml/2006/main">
              <a:ext uri="{FF2B5EF4-FFF2-40B4-BE49-F238E27FC236}">
                <a16:creationId xmlns:a16="http://schemas.microsoft.com/office/drawing/2014/main" id="{5E82E22C-5E9B-4B89-8D31-745524E0C903}"/>
              </a:ext>
            </a:extLst>
          </p:cNvPr>
          <p:cNvSpPr>
            <a:spLocks xmlns:a="http://schemas.openxmlformats.org/drawingml/2006/main" noGrp="1"/>
          </p:cNvSpPr>
          <p:nvPr/>
        </p:nvSpPr>
        <p:spPr>
          <a:xfrm xmlns:a="http://schemas.openxmlformats.org/drawingml/2006/main">
            <a:off x="393668" y="2543175"/>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Set the report folder and optional email recipients, select the groups, then choose whether to save the report locally or email it. The complete run output is also shown inside the application.</a:t>
            </a:r>
          </a:p>
        </p:txBody>
      </p:sp>
      <p:sp>
        <p:nvSpPr>
          <p:cNvPr id="6" name="">
            <a:extLst xmlns:a="http://schemas.openxmlformats.org/drawingml/2006/main">
              <a:ext uri="{FF2B5EF4-FFF2-40B4-BE49-F238E27FC236}">
                <a16:creationId xmlns:a16="http://schemas.microsoft.com/office/drawing/2014/main" id="{37C37304-2FB7-4716-BB3C-7368A120CEE2}"/>
              </a:ext>
            </a:extLst>
          </p:cNvPr>
          <p:cNvSpPr>
            <a:spLocks xmlns:a="http://schemas.openxmlformats.org/drawingml/2006/main" noGrp="1"/>
          </p:cNvSpPr>
          <p:nvPr/>
        </p:nvSpPr>
        <p:spPr>
          <a:xfrm xmlns:a="http://schemas.openxmlformats.org/drawingml/2006/main">
            <a:off x="393668" y="4876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No Outlook password is stored.</a:t>
            </a:r>
          </a:p>
        </p:txBody>
      </p:sp>
      <p:sp>
        <p:nvSpPr>
          <p:cNvPr id="7" name="">
            <a:extLst xmlns:a="http://schemas.openxmlformats.org/drawingml/2006/main">
              <a:ext uri="{FF2B5EF4-FFF2-40B4-BE49-F238E27FC236}">
                <a16:creationId xmlns:a16="http://schemas.microsoft.com/office/drawing/2014/main" id="{CE9A0429-E579-4EDB-9529-E618E63BA467}"/>
              </a:ext>
            </a:extLst>
          </p:cNvPr>
          <p:cNvSpPr>
            <a:spLocks xmlns:a="http://schemas.openxmlformats.org/drawingml/2006/main" noGrp="1"/>
          </p:cNvSpPr>
          <p:nvPr/>
        </p:nvSpPr>
        <p:spPr>
          <a:xfrm xmlns:a="http://schemas.openxmlformats.org/drawingml/2006/main">
            <a:off x="6267450" y="828675"/>
            <a:ext cx="5543550" cy="5172075"/>
          </a:xfrm>
          <a:prstGeom xmlns:a="http://schemas.openxmlformats.org/drawingml/2006/main" prst="roundRect">
            <a:avLst>
              <a:gd name="adj" fmla="val 1473"/>
            </a:avLst>
          </a:prstGeom>
          <a:solidFill xmlns:a="http://schemas.openxmlformats.org/drawingml/2006/main">
            <a:srgbClr val="FFFFFF"/>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51329944-6A16-463B-9FCE-79FA4FF6A148}"/>
              </a:ext>
            </a:extLst>
          </p:cNvPr>
          <p:cNvSpPr>
            <a:spLocks xmlns:a="http://schemas.openxmlformats.org/drawingml/2006/main" noGrp="1"/>
          </p:cNvSpPr>
          <p:nvPr/>
        </p:nvSpPr>
        <p:spPr>
          <a:xfrm xmlns:a="http://schemas.openxmlformats.org/drawingml/2006/main">
            <a:off x="6267450" y="828675"/>
            <a:ext cx="5543550" cy="438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EC5181-3C18-40CC-8D2C-3733B7F0C9EA}"/>
              </a:ext>
            </a:extLst>
          </p:cNvPr>
          <p:cNvSpPr>
            <a:spLocks xmlns:a="http://schemas.openxmlformats.org/drawingml/2006/main" noGrp="1"/>
          </p:cNvSpPr>
          <p:nvPr/>
        </p:nvSpPr>
        <p:spPr>
          <a:xfrm xmlns:a="http://schemas.openxmlformats.org/drawingml/2006/main">
            <a:off x="6457950" y="9334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Regulatory Monitor</a:t>
            </a:r>
          </a:p>
        </p:txBody>
      </p:sp>
      <p:sp>
        <p:nvSpPr>
          <p:cNvPr id="10" name="">
            <a:extLst xmlns:a="http://schemas.openxmlformats.org/drawingml/2006/main">
              <a:ext uri="{FF2B5EF4-FFF2-40B4-BE49-F238E27FC236}">
                <a16:creationId xmlns:a16="http://schemas.microsoft.com/office/drawing/2014/main" id="{9BE154CC-E7CD-4C14-ABA0-6098625F3594}"/>
              </a:ext>
            </a:extLst>
          </p:cNvPr>
          <p:cNvSpPr>
            <a:spLocks xmlns:a="http://schemas.openxmlformats.org/drawingml/2006/main" noGrp="1"/>
          </p:cNvSpPr>
          <p:nvPr/>
        </p:nvSpPr>
        <p:spPr>
          <a:xfrm xmlns:a="http://schemas.openxmlformats.org/drawingml/2006/main">
            <a:off x="6457950" y="1438275"/>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Outlook sender</a:t>
            </a:r>
          </a:p>
        </p:txBody>
      </p:sp>
      <p:sp>
        <p:nvSpPr>
          <p:cNvPr id="11" name="">
            <a:extLst xmlns:a="http://schemas.openxmlformats.org/drawingml/2006/main">
              <a:ext uri="{FF2B5EF4-FFF2-40B4-BE49-F238E27FC236}">
                <a16:creationId xmlns:a16="http://schemas.microsoft.com/office/drawing/2014/main" id="{A34FEC88-609B-4365-8B02-91808181A899}"/>
              </a:ext>
            </a:extLst>
          </p:cNvPr>
          <p:cNvSpPr>
            <a:spLocks xmlns:a="http://schemas.openxmlformats.org/drawingml/2006/main" noGrp="1"/>
          </p:cNvSpPr>
          <p:nvPr/>
        </p:nvSpPr>
        <p:spPr>
          <a:xfrm xmlns:a="http://schemas.openxmlformats.org/drawingml/2006/main">
            <a:off x="7743825" y="1390650"/>
            <a:ext cx="233362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00109494-F282-4FEF-9686-632077C8BD0B}"/>
              </a:ext>
            </a:extLst>
          </p:cNvPr>
          <p:cNvSpPr>
            <a:spLocks xmlns:a="http://schemas.openxmlformats.org/drawingml/2006/main" noGrp="1"/>
          </p:cNvSpPr>
          <p:nvPr/>
        </p:nvSpPr>
        <p:spPr>
          <a:xfrm xmlns:a="http://schemas.openxmlformats.org/drawingml/2006/main">
            <a:off x="7858125" y="14573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E6673"/>
                </a:solidFill>
                <a:latin typeface="Arial"/>
                <a:ea typeface="Arial"/>
                <a:cs typeface="Arial"/>
              </a:defRPr>
            </a:pPr>
            <a:r>
              <a:rPr sz="1050" b="0">
                <a:solidFill>
                  <a:srgbClr val="5E6673"/>
                </a:solidFill>
                <a:latin typeface="Arial"/>
                <a:ea typeface="Arial"/>
                <a:cs typeface="Arial"/>
              </a:rPr>
              <a:t>Use Outlook default account</a:t>
            </a:r>
          </a:p>
        </p:txBody>
      </p:sp>
      <p:sp>
        <p:nvSpPr>
          <p:cNvPr id="13" name="">
            <a:extLst xmlns:a="http://schemas.openxmlformats.org/drawingml/2006/main">
              <a:ext uri="{FF2B5EF4-FFF2-40B4-BE49-F238E27FC236}">
                <a16:creationId xmlns:a16="http://schemas.microsoft.com/office/drawing/2014/main" id="{FC7A07D8-CB61-4D03-B294-E42D4ABDE738}"/>
              </a:ext>
            </a:extLst>
          </p:cNvPr>
          <p:cNvSpPr>
            <a:spLocks xmlns:a="http://schemas.openxmlformats.org/drawingml/2006/main" noGrp="1"/>
          </p:cNvSpPr>
          <p:nvPr/>
        </p:nvSpPr>
        <p:spPr>
          <a:xfrm xmlns:a="http://schemas.openxmlformats.org/drawingml/2006/main">
            <a:off x="10172700" y="1390650"/>
            <a:ext cx="143827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A9FD187E-02DA-464D-8DD7-F21F91503775}"/>
              </a:ext>
            </a:extLst>
          </p:cNvPr>
          <p:cNvSpPr>
            <a:spLocks xmlns:a="http://schemas.openxmlformats.org/drawingml/2006/main" noGrp="1"/>
          </p:cNvSpPr>
          <p:nvPr/>
        </p:nvSpPr>
        <p:spPr>
          <a:xfrm xmlns:a="http://schemas.openxmlformats.org/drawingml/2006/main">
            <a:off x="10248900" y="145732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000000"/>
                </a:solidFill>
                <a:latin typeface="Arial"/>
                <a:ea typeface="Arial"/>
                <a:cs typeface="Arial"/>
              </a:defRPr>
            </a:pPr>
            <a:r>
              <a:rPr sz="1050" b="0">
                <a:solidFill>
                  <a:srgbClr val="000000"/>
                </a:solidFill>
                <a:latin typeface="Arial"/>
                <a:ea typeface="Arial"/>
                <a:cs typeface="Arial"/>
              </a:rPr>
              <a:t>Refresh accounts</a:t>
            </a:r>
          </a:p>
        </p:txBody>
      </p:sp>
      <p:sp>
        <p:nvSpPr>
          <p:cNvPr id="15" name="">
            <a:extLst xmlns:a="http://schemas.openxmlformats.org/drawingml/2006/main">
              <a:ext uri="{FF2B5EF4-FFF2-40B4-BE49-F238E27FC236}">
                <a16:creationId xmlns:a16="http://schemas.microsoft.com/office/drawing/2014/main" id="{4219F5AB-8AA0-4C78-8E84-7B04FEF147D6}"/>
              </a:ext>
            </a:extLst>
          </p:cNvPr>
          <p:cNvSpPr>
            <a:spLocks xmlns:a="http://schemas.openxmlformats.org/drawingml/2006/main" noGrp="1"/>
          </p:cNvSpPr>
          <p:nvPr/>
        </p:nvSpPr>
        <p:spPr>
          <a:xfrm xmlns:a="http://schemas.openxmlformats.org/drawingml/2006/main">
            <a:off x="6457950" y="18478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Recipients</a:t>
            </a:r>
          </a:p>
        </p:txBody>
      </p:sp>
      <p:sp>
        <p:nvSpPr>
          <p:cNvPr id="16" name="">
            <a:extLst xmlns:a="http://schemas.openxmlformats.org/drawingml/2006/main">
              <a:ext uri="{FF2B5EF4-FFF2-40B4-BE49-F238E27FC236}">
                <a16:creationId xmlns:a16="http://schemas.microsoft.com/office/drawing/2014/main" id="{EFD98221-C6EE-497B-B4F8-8943047C29DB}"/>
              </a:ext>
            </a:extLst>
          </p:cNvPr>
          <p:cNvSpPr>
            <a:spLocks xmlns:a="http://schemas.openxmlformats.org/drawingml/2006/main" noGrp="1"/>
          </p:cNvSpPr>
          <p:nvPr/>
        </p:nvSpPr>
        <p:spPr>
          <a:xfrm xmlns:a="http://schemas.openxmlformats.org/drawingml/2006/main">
            <a:off x="7743825" y="1809750"/>
            <a:ext cx="3867150" cy="4953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1766F94A-29E7-4556-B341-9C84A62F8F0F}"/>
              </a:ext>
            </a:extLst>
          </p:cNvPr>
          <p:cNvSpPr>
            <a:spLocks xmlns:a="http://schemas.openxmlformats.org/drawingml/2006/main" noGrp="1"/>
          </p:cNvSpPr>
          <p:nvPr/>
        </p:nvSpPr>
        <p:spPr>
          <a:xfrm xmlns:a="http://schemas.openxmlformats.org/drawingml/2006/main">
            <a:off x="7858125" y="19431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E6673"/>
                </a:solidFill>
                <a:latin typeface="Arial"/>
                <a:ea typeface="Arial"/>
                <a:cs typeface="Arial"/>
              </a:defRPr>
            </a:pPr>
            <a:r>
              <a:rPr sz="1050" b="0">
                <a:solidFill>
                  <a:srgbClr val="5E6673"/>
                </a:solidFill>
                <a:latin typeface="Arial"/>
                <a:ea typeface="Arial"/>
                <a:cs typeface="Arial"/>
              </a:rPr>
              <a:t>recipient@example.com</a:t>
            </a:r>
          </a:p>
        </p:txBody>
      </p:sp>
      <p:sp>
        <p:nvSpPr>
          <p:cNvPr id="18" name="">
            <a:extLst xmlns:a="http://schemas.openxmlformats.org/drawingml/2006/main">
              <a:ext uri="{FF2B5EF4-FFF2-40B4-BE49-F238E27FC236}">
                <a16:creationId xmlns:a16="http://schemas.microsoft.com/office/drawing/2014/main" id="{DA247D3C-3778-4486-9E42-91D3BF9CD511}"/>
              </a:ext>
            </a:extLst>
          </p:cNvPr>
          <p:cNvSpPr>
            <a:spLocks xmlns:a="http://schemas.openxmlformats.org/drawingml/2006/main" noGrp="1"/>
          </p:cNvSpPr>
          <p:nvPr/>
        </p:nvSpPr>
        <p:spPr>
          <a:xfrm xmlns:a="http://schemas.openxmlformats.org/drawingml/2006/main">
            <a:off x="6457950" y="24574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Save reports in</a:t>
            </a:r>
          </a:p>
        </p:txBody>
      </p:sp>
      <p:sp>
        <p:nvSpPr>
          <p:cNvPr id="19" name="">
            <a:extLst xmlns:a="http://schemas.openxmlformats.org/drawingml/2006/main">
              <a:ext uri="{FF2B5EF4-FFF2-40B4-BE49-F238E27FC236}">
                <a16:creationId xmlns:a16="http://schemas.microsoft.com/office/drawing/2014/main" id="{96828CB8-1BCE-425E-824B-B89BC6AF8860}"/>
              </a:ext>
            </a:extLst>
          </p:cNvPr>
          <p:cNvSpPr>
            <a:spLocks xmlns:a="http://schemas.openxmlformats.org/drawingml/2006/main" noGrp="1"/>
          </p:cNvSpPr>
          <p:nvPr/>
        </p:nvSpPr>
        <p:spPr>
          <a:xfrm xmlns:a="http://schemas.openxmlformats.org/drawingml/2006/main">
            <a:off x="7743825" y="2409825"/>
            <a:ext cx="262890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10CDA6CF-97CB-4635-B7DE-1B5ACB55A89F}"/>
              </a:ext>
            </a:extLst>
          </p:cNvPr>
          <p:cNvSpPr>
            <a:spLocks xmlns:a="http://schemas.openxmlformats.org/drawingml/2006/main" noGrp="1"/>
          </p:cNvSpPr>
          <p:nvPr/>
        </p:nvSpPr>
        <p:spPr>
          <a:xfrm xmlns:a="http://schemas.openxmlformats.org/drawingml/2006/main">
            <a:off x="7858125" y="24765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E6673"/>
                </a:solidFill>
                <a:latin typeface="Arial"/>
                <a:ea typeface="Arial"/>
                <a:cs typeface="Arial"/>
              </a:defRPr>
            </a:pPr>
            <a:r>
              <a:rPr sz="1050" b="0">
                <a:solidFill>
                  <a:srgbClr val="5E6673"/>
                </a:solidFill>
                <a:latin typeface="Arial"/>
                <a:ea typeface="Arial"/>
                <a:cs typeface="Arial"/>
              </a:rPr>
              <a:t>C:\Reports\RegulatoryMonitor</a:t>
            </a:r>
          </a:p>
        </p:txBody>
      </p:sp>
      <p:sp>
        <p:nvSpPr>
          <p:cNvPr id="21" name="">
            <a:extLst xmlns:a="http://schemas.openxmlformats.org/drawingml/2006/main">
              <a:ext uri="{FF2B5EF4-FFF2-40B4-BE49-F238E27FC236}">
                <a16:creationId xmlns:a16="http://schemas.microsoft.com/office/drawing/2014/main" id="{09235DD5-BA9C-407B-A3AE-24F39B5E7AF9}"/>
              </a:ext>
            </a:extLst>
          </p:cNvPr>
          <p:cNvSpPr>
            <a:spLocks xmlns:a="http://schemas.openxmlformats.org/drawingml/2006/main" noGrp="1"/>
          </p:cNvSpPr>
          <p:nvPr/>
        </p:nvSpPr>
        <p:spPr>
          <a:xfrm xmlns:a="http://schemas.openxmlformats.org/drawingml/2006/main">
            <a:off x="10467975" y="2409825"/>
            <a:ext cx="11430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2E06373F-3A4C-45DD-8F73-0038C877122F}"/>
              </a:ext>
            </a:extLst>
          </p:cNvPr>
          <p:cNvSpPr>
            <a:spLocks xmlns:a="http://schemas.openxmlformats.org/drawingml/2006/main" noGrp="1"/>
          </p:cNvSpPr>
          <p:nvPr/>
        </p:nvSpPr>
        <p:spPr>
          <a:xfrm xmlns:a="http://schemas.openxmlformats.org/drawingml/2006/main">
            <a:off x="10544175" y="247650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000000"/>
                </a:solidFill>
                <a:latin typeface="Arial"/>
                <a:ea typeface="Arial"/>
                <a:cs typeface="Arial"/>
              </a:defRPr>
            </a:pPr>
            <a:r>
              <a:rPr sz="1050" b="0">
                <a:solidFill>
                  <a:srgbClr val="000000"/>
                </a:solidFill>
                <a:latin typeface="Arial"/>
                <a:ea typeface="Arial"/>
                <a:cs typeface="Arial"/>
              </a:rPr>
              <a:t>Browse…</a:t>
            </a:r>
          </a:p>
        </p:txBody>
      </p:sp>
      <p:sp>
        <p:nvSpPr>
          <p:cNvPr id="23" name="">
            <a:extLst xmlns:a="http://schemas.openxmlformats.org/drawingml/2006/main">
              <a:ext uri="{FF2B5EF4-FFF2-40B4-BE49-F238E27FC236}">
                <a16:creationId xmlns:a16="http://schemas.microsoft.com/office/drawing/2014/main" id="{876D5940-A5DD-4B1E-B9CF-C52A8F1C72FC}"/>
              </a:ext>
            </a:extLst>
          </p:cNvPr>
          <p:cNvSpPr>
            <a:spLocks xmlns:a="http://schemas.openxmlformats.org/drawingml/2006/main" noGrp="1"/>
          </p:cNvSpPr>
          <p:nvPr/>
        </p:nvSpPr>
        <p:spPr>
          <a:xfrm xmlns:a="http://schemas.openxmlformats.org/drawingml/2006/main">
            <a:off x="6457950" y="2924175"/>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Groups</a:t>
            </a:r>
          </a:p>
        </p:txBody>
      </p:sp>
      <p:sp>
        <p:nvSpPr>
          <p:cNvPr id="24" name="">
            <a:extLst xmlns:a="http://schemas.openxmlformats.org/drawingml/2006/main">
              <a:ext uri="{FF2B5EF4-FFF2-40B4-BE49-F238E27FC236}">
                <a16:creationId xmlns:a16="http://schemas.microsoft.com/office/drawing/2014/main" id="{E32241CB-0CB5-4536-A11A-A890F2DCC28F}"/>
              </a:ext>
            </a:extLst>
          </p:cNvPr>
          <p:cNvSpPr>
            <a:spLocks xmlns:a="http://schemas.openxmlformats.org/drawingml/2006/main" noGrp="1"/>
          </p:cNvSpPr>
          <p:nvPr/>
        </p:nvSpPr>
        <p:spPr>
          <a:xfrm xmlns:a="http://schemas.openxmlformats.org/drawingml/2006/main">
            <a:off x="7743825" y="2933700"/>
            <a:ext cx="152400" cy="1524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25" name="">
            <a:extLst xmlns:a="http://schemas.openxmlformats.org/drawingml/2006/main">
              <a:ext uri="{FF2B5EF4-FFF2-40B4-BE49-F238E27FC236}">
                <a16:creationId xmlns:a16="http://schemas.microsoft.com/office/drawing/2014/main" id="{6F2E1E9D-3E94-4145-A04C-66508057BBC8}"/>
              </a:ext>
            </a:extLst>
          </p:cNvPr>
          <p:cNvSpPr>
            <a:spLocks xmlns:a="http://schemas.openxmlformats.org/drawingml/2006/main" noGrp="1"/>
          </p:cNvSpPr>
          <p:nvPr/>
        </p:nvSpPr>
        <p:spPr>
          <a:xfrm xmlns:a="http://schemas.openxmlformats.org/drawingml/2006/main">
            <a:off x="7753350" y="2905125"/>
            <a:ext cx="133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98779217-3ADB-410E-A8B2-0DE0A71DA5E3}"/>
              </a:ext>
            </a:extLst>
          </p:cNvPr>
          <p:cNvSpPr>
            <a:spLocks xmlns:a="http://schemas.openxmlformats.org/drawingml/2006/main" noGrp="1"/>
          </p:cNvSpPr>
          <p:nvPr/>
        </p:nvSpPr>
        <p:spPr>
          <a:xfrm xmlns:a="http://schemas.openxmlformats.org/drawingml/2006/main">
            <a:off x="796290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3DDABBED-6463-4FC0-9379-4D9372AD9B3D}"/>
              </a:ext>
            </a:extLst>
          </p:cNvPr>
          <p:cNvSpPr>
            <a:spLocks xmlns:a="http://schemas.openxmlformats.org/drawingml/2006/main" noGrp="1"/>
          </p:cNvSpPr>
          <p:nvPr/>
        </p:nvSpPr>
        <p:spPr>
          <a:xfrm xmlns:a="http://schemas.openxmlformats.org/drawingml/2006/main">
            <a:off x="8334375" y="2933700"/>
            <a:ext cx="152400" cy="1524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28" name="">
            <a:extLst xmlns:a="http://schemas.openxmlformats.org/drawingml/2006/main">
              <a:ext uri="{FF2B5EF4-FFF2-40B4-BE49-F238E27FC236}">
                <a16:creationId xmlns:a16="http://schemas.microsoft.com/office/drawing/2014/main" id="{89688F60-0B17-4D23-AD97-5F8B1BFC321B}"/>
              </a:ext>
            </a:extLst>
          </p:cNvPr>
          <p:cNvSpPr>
            <a:spLocks xmlns:a="http://schemas.openxmlformats.org/drawingml/2006/main" noGrp="1"/>
          </p:cNvSpPr>
          <p:nvPr/>
        </p:nvSpPr>
        <p:spPr>
          <a:xfrm xmlns:a="http://schemas.openxmlformats.org/drawingml/2006/main">
            <a:off x="8343900" y="2905125"/>
            <a:ext cx="133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7165CB55-3FED-4FF7-AA21-A207F66CF78E}"/>
              </a:ext>
            </a:extLst>
          </p:cNvPr>
          <p:cNvSpPr>
            <a:spLocks xmlns:a="http://schemas.openxmlformats.org/drawingml/2006/main" noGrp="1"/>
          </p:cNvSpPr>
          <p:nvPr/>
        </p:nvSpPr>
        <p:spPr>
          <a:xfrm xmlns:a="http://schemas.openxmlformats.org/drawingml/2006/main">
            <a:off x="855345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2</a:t>
            </a:r>
          </a:p>
        </p:txBody>
      </p:sp>
      <p:sp>
        <p:nvSpPr>
          <p:cNvPr id="30" name="">
            <a:extLst xmlns:a="http://schemas.openxmlformats.org/drawingml/2006/main">
              <a:ext uri="{FF2B5EF4-FFF2-40B4-BE49-F238E27FC236}">
                <a16:creationId xmlns:a16="http://schemas.microsoft.com/office/drawing/2014/main" id="{0619F37D-9826-4420-AFB2-4D7F36EF05A1}"/>
              </a:ext>
            </a:extLst>
          </p:cNvPr>
          <p:cNvSpPr>
            <a:spLocks xmlns:a="http://schemas.openxmlformats.org/drawingml/2006/main" noGrp="1"/>
          </p:cNvSpPr>
          <p:nvPr/>
        </p:nvSpPr>
        <p:spPr>
          <a:xfrm xmlns:a="http://schemas.openxmlformats.org/drawingml/2006/main">
            <a:off x="8924925" y="2933700"/>
            <a:ext cx="152400" cy="1524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31" name="">
            <a:extLst xmlns:a="http://schemas.openxmlformats.org/drawingml/2006/main">
              <a:ext uri="{FF2B5EF4-FFF2-40B4-BE49-F238E27FC236}">
                <a16:creationId xmlns:a16="http://schemas.microsoft.com/office/drawing/2014/main" id="{975A3B36-AFBD-43C4-BC32-5B30516E54F6}"/>
              </a:ext>
            </a:extLst>
          </p:cNvPr>
          <p:cNvSpPr>
            <a:spLocks xmlns:a="http://schemas.openxmlformats.org/drawingml/2006/main" noGrp="1"/>
          </p:cNvSpPr>
          <p:nvPr/>
        </p:nvSpPr>
        <p:spPr>
          <a:xfrm xmlns:a="http://schemas.openxmlformats.org/drawingml/2006/main">
            <a:off x="8934450" y="2905125"/>
            <a:ext cx="133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E1B2D323-6D2C-4D8C-9E79-7626066BC52D}"/>
              </a:ext>
            </a:extLst>
          </p:cNvPr>
          <p:cNvSpPr>
            <a:spLocks xmlns:a="http://schemas.openxmlformats.org/drawingml/2006/main" noGrp="1"/>
          </p:cNvSpPr>
          <p:nvPr/>
        </p:nvSpPr>
        <p:spPr>
          <a:xfrm xmlns:a="http://schemas.openxmlformats.org/drawingml/2006/main">
            <a:off x="914400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3</a:t>
            </a:r>
          </a:p>
        </p:txBody>
      </p:sp>
      <p:sp>
        <p:nvSpPr>
          <p:cNvPr id="33" name="">
            <a:extLst xmlns:a="http://schemas.openxmlformats.org/drawingml/2006/main">
              <a:ext uri="{FF2B5EF4-FFF2-40B4-BE49-F238E27FC236}">
                <a16:creationId xmlns:a16="http://schemas.microsoft.com/office/drawing/2014/main" id="{99E45745-BC09-400D-8AB3-8C21F411A527}"/>
              </a:ext>
            </a:extLst>
          </p:cNvPr>
          <p:cNvSpPr>
            <a:spLocks xmlns:a="http://schemas.openxmlformats.org/drawingml/2006/main" noGrp="1"/>
          </p:cNvSpPr>
          <p:nvPr/>
        </p:nvSpPr>
        <p:spPr>
          <a:xfrm xmlns:a="http://schemas.openxmlformats.org/drawingml/2006/main">
            <a:off x="9515475" y="2933700"/>
            <a:ext cx="1524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4" name="">
            <a:extLst xmlns:a="http://schemas.openxmlformats.org/drawingml/2006/main">
              <a:ext uri="{FF2B5EF4-FFF2-40B4-BE49-F238E27FC236}">
                <a16:creationId xmlns:a16="http://schemas.microsoft.com/office/drawing/2014/main" id="{8C675988-1E11-43C3-8A17-AC5E64537C3E}"/>
              </a:ext>
            </a:extLst>
          </p:cNvPr>
          <p:cNvSpPr>
            <a:spLocks xmlns:a="http://schemas.openxmlformats.org/drawingml/2006/main" noGrp="1"/>
          </p:cNvSpPr>
          <p:nvPr/>
        </p:nvSpPr>
        <p:spPr>
          <a:xfrm xmlns:a="http://schemas.openxmlformats.org/drawingml/2006/main">
            <a:off x="973455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4</a:t>
            </a:r>
          </a:p>
        </p:txBody>
      </p:sp>
      <p:sp>
        <p:nvSpPr>
          <p:cNvPr id="35" name="">
            <a:extLst xmlns:a="http://schemas.openxmlformats.org/drawingml/2006/main">
              <a:ext uri="{FF2B5EF4-FFF2-40B4-BE49-F238E27FC236}">
                <a16:creationId xmlns:a16="http://schemas.microsoft.com/office/drawing/2014/main" id="{EA8F1E94-458F-4349-9BBA-788D3BF02789}"/>
              </a:ext>
            </a:extLst>
          </p:cNvPr>
          <p:cNvSpPr>
            <a:spLocks xmlns:a="http://schemas.openxmlformats.org/drawingml/2006/main" noGrp="1"/>
          </p:cNvSpPr>
          <p:nvPr/>
        </p:nvSpPr>
        <p:spPr>
          <a:xfrm xmlns:a="http://schemas.openxmlformats.org/drawingml/2006/main">
            <a:off x="10106025" y="2933700"/>
            <a:ext cx="1524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
            <a:extLst xmlns:a="http://schemas.openxmlformats.org/drawingml/2006/main">
              <a:ext uri="{FF2B5EF4-FFF2-40B4-BE49-F238E27FC236}">
                <a16:creationId xmlns:a16="http://schemas.microsoft.com/office/drawing/2014/main" id="{B1DF1826-8FB7-48AF-8FA0-A76EC5B882FA}"/>
              </a:ext>
            </a:extLst>
          </p:cNvPr>
          <p:cNvSpPr>
            <a:spLocks xmlns:a="http://schemas.openxmlformats.org/drawingml/2006/main" noGrp="1"/>
          </p:cNvSpPr>
          <p:nvPr/>
        </p:nvSpPr>
        <p:spPr>
          <a:xfrm xmlns:a="http://schemas.openxmlformats.org/drawingml/2006/main">
            <a:off x="1032510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5</a:t>
            </a:r>
          </a:p>
        </p:txBody>
      </p:sp>
      <p:sp>
        <p:nvSpPr>
          <p:cNvPr id="37" name="">
            <a:extLst xmlns:a="http://schemas.openxmlformats.org/drawingml/2006/main">
              <a:ext uri="{FF2B5EF4-FFF2-40B4-BE49-F238E27FC236}">
                <a16:creationId xmlns:a16="http://schemas.microsoft.com/office/drawing/2014/main" id="{674F3B75-C308-4C31-BFB8-AB8DB3E969F3}"/>
              </a:ext>
            </a:extLst>
          </p:cNvPr>
          <p:cNvSpPr>
            <a:spLocks xmlns:a="http://schemas.openxmlformats.org/drawingml/2006/main" noGrp="1"/>
          </p:cNvSpPr>
          <p:nvPr/>
        </p:nvSpPr>
        <p:spPr>
          <a:xfrm xmlns:a="http://schemas.openxmlformats.org/drawingml/2006/main">
            <a:off x="10696575" y="2933700"/>
            <a:ext cx="1524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
            <a:extLst xmlns:a="http://schemas.openxmlformats.org/drawingml/2006/main">
              <a:ext uri="{FF2B5EF4-FFF2-40B4-BE49-F238E27FC236}">
                <a16:creationId xmlns:a16="http://schemas.microsoft.com/office/drawing/2014/main" id="{2727E0B9-91BC-4877-81EB-60BD98024799}"/>
              </a:ext>
            </a:extLst>
          </p:cNvPr>
          <p:cNvSpPr>
            <a:spLocks xmlns:a="http://schemas.openxmlformats.org/drawingml/2006/main" noGrp="1"/>
          </p:cNvSpPr>
          <p:nvPr/>
        </p:nvSpPr>
        <p:spPr>
          <a:xfrm xmlns:a="http://schemas.openxmlformats.org/drawingml/2006/main">
            <a:off x="1091565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6</a:t>
            </a:r>
          </a:p>
        </p:txBody>
      </p:sp>
      <p:sp>
        <p:nvSpPr>
          <p:cNvPr id="39" name="">
            <a:extLst xmlns:a="http://schemas.openxmlformats.org/drawingml/2006/main">
              <a:ext uri="{FF2B5EF4-FFF2-40B4-BE49-F238E27FC236}">
                <a16:creationId xmlns:a16="http://schemas.microsoft.com/office/drawing/2014/main" id="{224F48EE-0CDE-4D65-A2FF-50C0EF42BC29}"/>
              </a:ext>
            </a:extLst>
          </p:cNvPr>
          <p:cNvSpPr>
            <a:spLocks xmlns:a="http://schemas.openxmlformats.org/drawingml/2006/main" noGrp="1"/>
          </p:cNvSpPr>
          <p:nvPr/>
        </p:nvSpPr>
        <p:spPr>
          <a:xfrm xmlns:a="http://schemas.openxmlformats.org/drawingml/2006/main">
            <a:off x="11287125" y="2933700"/>
            <a:ext cx="152400" cy="1524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
            <a:extLst xmlns:a="http://schemas.openxmlformats.org/drawingml/2006/main">
              <a:ext uri="{FF2B5EF4-FFF2-40B4-BE49-F238E27FC236}">
                <a16:creationId xmlns:a16="http://schemas.microsoft.com/office/drawing/2014/main" id="{2D5433B1-E317-4240-85EA-4CA035ED7BA6}"/>
              </a:ext>
            </a:extLst>
          </p:cNvPr>
          <p:cNvSpPr>
            <a:spLocks xmlns:a="http://schemas.openxmlformats.org/drawingml/2006/main" noGrp="1"/>
          </p:cNvSpPr>
          <p:nvPr/>
        </p:nvSpPr>
        <p:spPr>
          <a:xfrm xmlns:a="http://schemas.openxmlformats.org/drawingml/2006/main">
            <a:off x="11506200" y="29051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000000"/>
                </a:solidFill>
                <a:latin typeface="Arial"/>
                <a:ea typeface="Arial"/>
                <a:cs typeface="Arial"/>
              </a:defRPr>
            </a:pPr>
            <a:r>
              <a:rPr sz="1125" b="0">
                <a:solidFill>
                  <a:srgbClr val="000000"/>
                </a:solidFill>
                <a:latin typeface="Arial"/>
                <a:ea typeface="Arial"/>
                <a:cs typeface="Arial"/>
              </a:rPr>
              <a:t>7</a:t>
            </a:r>
          </a:p>
        </p:txBody>
      </p:sp>
      <p:sp>
        <p:nvSpPr>
          <p:cNvPr id="41" name="">
            <a:extLst xmlns:a="http://schemas.openxmlformats.org/drawingml/2006/main">
              <a:ext uri="{FF2B5EF4-FFF2-40B4-BE49-F238E27FC236}">
                <a16:creationId xmlns:a16="http://schemas.microsoft.com/office/drawing/2014/main" id="{2A0E4B78-FA18-4907-B688-1CED1C53B439}"/>
              </a:ext>
            </a:extLst>
          </p:cNvPr>
          <p:cNvSpPr>
            <a:spLocks xmlns:a="http://schemas.openxmlformats.org/drawingml/2006/main" noGrp="1"/>
          </p:cNvSpPr>
          <p:nvPr/>
        </p:nvSpPr>
        <p:spPr>
          <a:xfrm xmlns:a="http://schemas.openxmlformats.org/drawingml/2006/main">
            <a:off x="6457950" y="3371850"/>
            <a:ext cx="14287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B8BCC4"/>
            </a:solidFill>
            <a:prstDash val="solid"/>
          </a:ln>
        </p:spPr>
      </p:sp>
      <p:sp>
        <p:nvSpPr>
          <p:cNvPr id="42" name="">
            <a:extLst xmlns:a="http://schemas.openxmlformats.org/drawingml/2006/main">
              <a:ext uri="{FF2B5EF4-FFF2-40B4-BE49-F238E27FC236}">
                <a16:creationId xmlns:a16="http://schemas.microsoft.com/office/drawing/2014/main" id="{A7ECC95C-E327-4EA2-9DEA-F74FC1427596}"/>
              </a:ext>
            </a:extLst>
          </p:cNvPr>
          <p:cNvSpPr>
            <a:spLocks xmlns:a="http://schemas.openxmlformats.org/drawingml/2006/main" noGrp="1"/>
          </p:cNvSpPr>
          <p:nvPr/>
        </p:nvSpPr>
        <p:spPr>
          <a:xfrm xmlns:a="http://schemas.openxmlformats.org/drawingml/2006/main">
            <a:off x="6534150" y="34385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000000"/>
                </a:solidFill>
                <a:latin typeface="Arial"/>
                <a:ea typeface="Arial"/>
                <a:cs typeface="Arial"/>
              </a:defRPr>
            </a:pPr>
            <a:r>
              <a:rPr sz="1050" b="0">
                <a:solidFill>
                  <a:srgbClr val="000000"/>
                </a:solidFill>
                <a:latin typeface="Arial"/>
                <a:ea typeface="Arial"/>
                <a:cs typeface="Arial"/>
              </a:rPr>
              <a:t>Save settings</a:t>
            </a:r>
          </a:p>
        </p:txBody>
      </p:sp>
      <p:sp>
        <p:nvSpPr>
          <p:cNvPr id="43" name="">
            <a:extLst xmlns:a="http://schemas.openxmlformats.org/drawingml/2006/main">
              <a:ext uri="{FF2B5EF4-FFF2-40B4-BE49-F238E27FC236}">
                <a16:creationId xmlns:a16="http://schemas.microsoft.com/office/drawing/2014/main" id="{88F2D177-1DCD-4A35-8F73-B80D6A134B11}"/>
              </a:ext>
            </a:extLst>
          </p:cNvPr>
          <p:cNvSpPr>
            <a:spLocks xmlns:a="http://schemas.openxmlformats.org/drawingml/2006/main" noGrp="1"/>
          </p:cNvSpPr>
          <p:nvPr/>
        </p:nvSpPr>
        <p:spPr>
          <a:xfrm xmlns:a="http://schemas.openxmlformats.org/drawingml/2006/main">
            <a:off x="8001000" y="3371850"/>
            <a:ext cx="1695450" cy="323850"/>
          </a:xfrm>
          <a:prstGeom xmlns:a="http://schemas.openxmlformats.org/drawingml/2006/main" prst="roundRect">
            <a:avLst>
              <a:gd name="adj" fmla="val 23529"/>
            </a:avLst>
          </a:prstGeom>
          <a:solidFill xmlns:a="http://schemas.openxmlformats.org/drawingml/2006/main">
            <a:srgbClr val="3D8DFF"/>
          </a:solidFill>
          <a:ln xmlns:a="http://schemas.openxmlformats.org/drawingml/2006/main" w="9525">
            <a:solidFill>
              <a:srgbClr val="3D8DFF"/>
            </a:solidFill>
            <a:prstDash val="solid"/>
          </a:ln>
        </p:spPr>
      </p:sp>
      <p:sp>
        <p:nvSpPr>
          <p:cNvPr id="44" name="">
            <a:extLst xmlns:a="http://schemas.openxmlformats.org/drawingml/2006/main">
              <a:ext uri="{FF2B5EF4-FFF2-40B4-BE49-F238E27FC236}">
                <a16:creationId xmlns:a16="http://schemas.microsoft.com/office/drawing/2014/main" id="{C3200809-850A-42EA-9DFE-4857B526998F}"/>
              </a:ext>
            </a:extLst>
          </p:cNvPr>
          <p:cNvSpPr>
            <a:spLocks xmlns:a="http://schemas.openxmlformats.org/drawingml/2006/main" noGrp="1"/>
          </p:cNvSpPr>
          <p:nvPr/>
        </p:nvSpPr>
        <p:spPr>
          <a:xfrm xmlns:a="http://schemas.openxmlformats.org/drawingml/2006/main">
            <a:off x="8077200" y="343852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Run and save report</a:t>
            </a:r>
          </a:p>
        </p:txBody>
      </p:sp>
      <p:sp>
        <p:nvSpPr>
          <p:cNvPr id="45" name="">
            <a:extLst xmlns:a="http://schemas.openxmlformats.org/drawingml/2006/main">
              <a:ext uri="{FF2B5EF4-FFF2-40B4-BE49-F238E27FC236}">
                <a16:creationId xmlns:a16="http://schemas.microsoft.com/office/drawing/2014/main" id="{AA6F274F-FFF9-4B3D-9842-0FF2A698627D}"/>
              </a:ext>
            </a:extLst>
          </p:cNvPr>
          <p:cNvSpPr>
            <a:spLocks xmlns:a="http://schemas.openxmlformats.org/drawingml/2006/main" noGrp="1"/>
          </p:cNvSpPr>
          <p:nvPr/>
        </p:nvSpPr>
        <p:spPr>
          <a:xfrm xmlns:a="http://schemas.openxmlformats.org/drawingml/2006/main">
            <a:off x="9810750" y="3371850"/>
            <a:ext cx="1800225" cy="323850"/>
          </a:xfrm>
          <a:prstGeom xmlns:a="http://schemas.openxmlformats.org/drawingml/2006/main" prst="roundRect">
            <a:avLst>
              <a:gd name="adj" fmla="val 23529"/>
            </a:avLst>
          </a:prstGeom>
          <a:solidFill xmlns:a="http://schemas.openxmlformats.org/drawingml/2006/main">
            <a:srgbClr val="3D8DFF"/>
          </a:solidFill>
          <a:ln xmlns:a="http://schemas.openxmlformats.org/drawingml/2006/main" w="9525">
            <a:solidFill>
              <a:srgbClr val="3D8DFF"/>
            </a:solidFill>
            <a:prstDash val="solid"/>
          </a:ln>
        </p:spPr>
      </p:sp>
      <p:sp>
        <p:nvSpPr>
          <p:cNvPr id="46" name="">
            <a:extLst xmlns:a="http://schemas.openxmlformats.org/drawingml/2006/main">
              <a:ext uri="{FF2B5EF4-FFF2-40B4-BE49-F238E27FC236}">
                <a16:creationId xmlns:a16="http://schemas.microsoft.com/office/drawing/2014/main" id="{65F5EB2A-D503-4A45-9309-8A0717DBA414}"/>
              </a:ext>
            </a:extLst>
          </p:cNvPr>
          <p:cNvSpPr>
            <a:spLocks xmlns:a="http://schemas.openxmlformats.org/drawingml/2006/main" noGrp="1"/>
          </p:cNvSpPr>
          <p:nvPr/>
        </p:nvSpPr>
        <p:spPr>
          <a:xfrm xmlns:a="http://schemas.openxmlformats.org/drawingml/2006/main">
            <a:off x="9886950" y="3438525"/>
            <a:ext cx="1647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Run and email report</a:t>
            </a:r>
          </a:p>
        </p:txBody>
      </p:sp>
      <p:sp>
        <p:nvSpPr>
          <p:cNvPr id="47" name="">
            <a:extLst xmlns:a="http://schemas.openxmlformats.org/drawingml/2006/main">
              <a:ext uri="{FF2B5EF4-FFF2-40B4-BE49-F238E27FC236}">
                <a16:creationId xmlns:a16="http://schemas.microsoft.com/office/drawing/2014/main" id="{4C275BFA-A0E6-4CCA-8BDD-84101D07C717}"/>
              </a:ext>
            </a:extLst>
          </p:cNvPr>
          <p:cNvSpPr>
            <a:spLocks xmlns:a="http://schemas.openxmlformats.org/drawingml/2006/main" noGrp="1"/>
          </p:cNvSpPr>
          <p:nvPr/>
        </p:nvSpPr>
        <p:spPr>
          <a:xfrm xmlns:a="http://schemas.openxmlformats.org/drawingml/2006/main">
            <a:off x="6457950" y="39433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Run output</a:t>
            </a:r>
          </a:p>
        </p:txBody>
      </p:sp>
      <p:sp>
        <p:nvSpPr>
          <p:cNvPr id="48" name="">
            <a:extLst xmlns:a="http://schemas.openxmlformats.org/drawingml/2006/main">
              <a:ext uri="{FF2B5EF4-FFF2-40B4-BE49-F238E27FC236}">
                <a16:creationId xmlns:a16="http://schemas.microsoft.com/office/drawing/2014/main" id="{EFF9C15A-22E5-43CF-A2B6-9B6797A7A839}"/>
              </a:ext>
            </a:extLst>
          </p:cNvPr>
          <p:cNvSpPr>
            <a:spLocks xmlns:a="http://schemas.openxmlformats.org/drawingml/2006/main" noGrp="1"/>
          </p:cNvSpPr>
          <p:nvPr/>
        </p:nvSpPr>
        <p:spPr>
          <a:xfrm xmlns:a="http://schemas.openxmlformats.org/drawingml/2006/main">
            <a:off x="6457950" y="4200525"/>
            <a:ext cx="5153025" cy="1524000"/>
          </a:xfrm>
          <a:prstGeom xmlns:a="http://schemas.openxmlformats.org/drawingml/2006/main" prst="rect">
            <a:avLst/>
          </a:prstGeom>
          <a:solidFill xmlns:a="http://schemas.openxmlformats.org/drawingml/2006/main">
            <a:srgbClr val="101317"/>
          </a:solidFill>
          <a:ln xmlns:a="http://schemas.openxmlformats.org/drawingml/2006/main" w="9525">
            <a:solidFill>
              <a:srgbClr val="101317"/>
            </a:solidFill>
            <a:prstDash val="solid"/>
          </a:ln>
        </p:spPr>
      </p:sp>
      <p:sp>
        <p:nvSpPr>
          <p:cNvPr id="49" name="">
            <a:extLst xmlns:a="http://schemas.openxmlformats.org/drawingml/2006/main">
              <a:ext uri="{FF2B5EF4-FFF2-40B4-BE49-F238E27FC236}">
                <a16:creationId xmlns:a16="http://schemas.microsoft.com/office/drawing/2014/main" id="{0F952284-BD67-4EC1-BA6E-DF1EDB5F3736}"/>
              </a:ext>
            </a:extLst>
          </p:cNvPr>
          <p:cNvSpPr>
            <a:spLocks xmlns:a="http://schemas.openxmlformats.org/drawingml/2006/main" noGrp="1"/>
          </p:cNvSpPr>
          <p:nvPr/>
        </p:nvSpPr>
        <p:spPr>
          <a:xfrm xmlns:a="http://schemas.openxmlformats.org/drawingml/2006/main">
            <a:off x="6610350" y="4343400"/>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D8E3EA"/>
                </a:solidFill>
                <a:latin typeface="Arial"/>
                <a:ea typeface="Arial"/>
                <a:cs typeface="Arial"/>
              </a:defRPr>
            </a:pPr>
            <a:r>
              <a:rPr sz="1125" b="0">
                <a:solidFill>
                  <a:srgbClr val="D8E3EA"/>
                </a:solidFill>
                <a:latin typeface="Arial"/>
                <a:ea typeface="Arial"/>
                <a:cs typeface="Arial"/>
              </a:rPr>
              <a:t>GROUP 1 — REGULATORY UPDATES</a:t>
            </a:r>
          </a:p>
          <a:p xmlns:a="http://schemas.openxmlformats.org/drawingml/2006/main">
            <a:pPr algn="l">
              <a:defRPr sz="1125" b="0">
                <a:solidFill>
                  <a:srgbClr val="D8E3EA"/>
                </a:solidFill>
                <a:latin typeface="Arial"/>
                <a:ea typeface="Arial"/>
                <a:cs typeface="Arial"/>
              </a:defRPr>
            </a:pPr>
            <a:r>
              <a:rPr sz="1125" b="0">
                <a:solidFill>
                  <a:srgbClr val="D8E3EA"/>
                </a:solidFill>
                <a:latin typeface="Arial"/>
                <a:ea typeface="Arial"/>
                <a:cs typeface="Arial"/>
              </a:rPr>
              <a:t>3 new updates found</a:t>
            </a:r>
          </a:p>
          <a:p xmlns:a="http://schemas.openxmlformats.org/drawingml/2006/main">
            <a:pPr algn="l">
              <a:defRPr sz="1125" b="0">
                <a:solidFill>
                  <a:srgbClr val="D8E3EA"/>
                </a:solidFill>
                <a:latin typeface="Arial"/>
                <a:ea typeface="Arial"/>
                <a:cs typeface="Arial"/>
              </a:defRPr>
            </a:pPr>
            <a:r>
              <a:rPr sz="1125" b="0">
                <a:solidFill>
                  <a:srgbClr val="D8E3EA"/>
                </a:solidFill>
                <a:latin typeface="Arial"/>
                <a:ea typeface="Arial"/>
                <a:cs typeface="Arial"/>
              </a:rPr>
              <a:t>Report saved to C:\Reports\...</a:t>
            </a:r>
          </a:p>
        </p:txBody>
      </p:sp>
    </p:spTree>
    <p:extLst>
      <p:ext uri="{BB962C8B-B14F-4D97-AF65-F5344CB8AC3E}">
        <p14:creationId xmlns:p14="http://schemas.microsoft.com/office/powerpoint/2010/main" val="14501689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E4631D89-A14C-449A-8C23-A49608057985}"/>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latin typeface="Arial"/>
                <a:ea typeface="Arial"/>
                <a:cs typeface="Arial"/>
              </a:defRPr>
            </a:pPr>
            <a:r>
              <a:rPr sz="2925" b="0">
                <a:solidFill>
                  <a:srgbClr val="000000"/>
                </a:solidFill>
                <a:latin typeface="Arial"/>
                <a:ea typeface="Arial"/>
                <a:cs typeface="Arial"/>
              </a:rPr>
              <a:t>Using the application takes three steps</a:t>
            </a:r>
          </a:p>
        </p:txBody>
      </p:sp>
      <p:sp>
        <p:nvSpPr>
          <p:cNvPr id="2" name="title-accent">
            <a:extLst xmlns:a="http://schemas.openxmlformats.org/drawingml/2006/main">
              <a:ext uri="{FF2B5EF4-FFF2-40B4-BE49-F238E27FC236}">
                <a16:creationId xmlns:a16="http://schemas.microsoft.com/office/drawing/2014/main" id="{3239EAFE-9EF4-4D43-B99D-720510B7ABD5}"/>
              </a:ext>
            </a:extLst>
          </p:cNvPr>
          <p:cNvSpPr>
            <a:spLocks xmlns:a="http://schemas.openxmlformats.org/drawingml/2006/main" noGrp="1"/>
          </p:cNvSpPr>
          <p:nvPr/>
        </p:nvSpPr>
        <p:spPr>
          <a:xfrm xmlns:a="http://schemas.openxmlformats.org/drawingml/2006/main">
            <a:off x="393668" y="1152525"/>
            <a:ext cx="685800"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730B6C22-E7F1-4465-B1C3-9C7821618832}"/>
              </a:ext>
            </a:extLst>
          </p:cNvPr>
          <p:cNvSpPr>
            <a:spLocks xmlns:a="http://schemas.openxmlformats.org/drawingml/2006/main" noGrp="1"/>
          </p:cNvSpPr>
          <p:nvPr/>
        </p:nvSpPr>
        <p:spPr>
          <a:xfrm xmlns:a="http://schemas.openxmlformats.org/drawingml/2006/main">
            <a:off x="11277600" y="627697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13" b="0">
                <a:solidFill>
                  <a:srgbClr val="5E6673"/>
                </a:solidFill>
                <a:latin typeface="Arial"/>
                <a:ea typeface="Arial"/>
                <a:cs typeface="Arial"/>
              </a:defRPr>
            </a:pPr>
            <a:r>
              <a:rPr sz="1013" b="0">
                <a:solidFill>
                  <a:srgbClr val="5E6673"/>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FA72EE18-EEBE-4DC6-ADE2-80144B74FCEC}"/>
              </a:ext>
            </a:extLst>
          </p:cNvPr>
          <p:cNvSpPr>
            <a:spLocks xmlns:a="http://schemas.openxmlformats.org/drawingml/2006/main" noGrp="1"/>
          </p:cNvSpPr>
          <p:nvPr/>
        </p:nvSpPr>
        <p:spPr>
          <a:xfrm xmlns:a="http://schemas.openxmlformats.org/drawingml/2006/main">
            <a:off x="393668" y="1952625"/>
            <a:ext cx="685800" cy="6858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3FAD84E9-4E4A-4D13-896B-4BD6E1138AFB}"/>
              </a:ext>
            </a:extLst>
          </p:cNvPr>
          <p:cNvSpPr>
            <a:spLocks xmlns:a="http://schemas.openxmlformats.org/drawingml/2006/main" noGrp="1"/>
          </p:cNvSpPr>
          <p:nvPr/>
        </p:nvSpPr>
        <p:spPr>
          <a:xfrm xmlns:a="http://schemas.openxmlformats.org/drawingml/2006/main">
            <a:off x="393668" y="2076450"/>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6349165-0305-48EC-AAC1-DC576AC4E618}"/>
              </a:ext>
            </a:extLst>
          </p:cNvPr>
          <p:cNvSpPr>
            <a:spLocks xmlns:a="http://schemas.openxmlformats.org/drawingml/2006/main" noGrp="1"/>
          </p:cNvSpPr>
          <p:nvPr/>
        </p:nvSpPr>
        <p:spPr>
          <a:xfrm xmlns:a="http://schemas.openxmlformats.org/drawingml/2006/main">
            <a:off x="393668" y="323850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Configure</a:t>
            </a:r>
          </a:p>
        </p:txBody>
      </p:sp>
      <p:sp>
        <p:nvSpPr>
          <p:cNvPr id="7" name="">
            <a:extLst xmlns:a="http://schemas.openxmlformats.org/drawingml/2006/main">
              <a:ext uri="{FF2B5EF4-FFF2-40B4-BE49-F238E27FC236}">
                <a16:creationId xmlns:a16="http://schemas.microsoft.com/office/drawing/2014/main" id="{44D70EF3-717D-4949-87BC-1A23D5165502}"/>
              </a:ext>
            </a:extLst>
          </p:cNvPr>
          <p:cNvSpPr>
            <a:spLocks xmlns:a="http://schemas.openxmlformats.org/drawingml/2006/main" noGrp="1"/>
          </p:cNvSpPr>
          <p:nvPr/>
        </p:nvSpPr>
        <p:spPr>
          <a:xfrm xmlns:a="http://schemas.openxmlformats.org/drawingml/2006/main">
            <a:off x="393668" y="3733800"/>
            <a:ext cx="31908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Choose the report folder. If email is needed, add recipients, save settings and send a test email.</a:t>
            </a:r>
          </a:p>
        </p:txBody>
      </p:sp>
      <p:sp>
        <p:nvSpPr>
          <p:cNvPr id="8" name="">
            <a:extLst xmlns:a="http://schemas.openxmlformats.org/drawingml/2006/main">
              <a:ext uri="{FF2B5EF4-FFF2-40B4-BE49-F238E27FC236}">
                <a16:creationId xmlns:a16="http://schemas.microsoft.com/office/drawing/2014/main" id="{2DF9B122-F458-4DC9-BF95-CD6EDA611760}"/>
              </a:ext>
            </a:extLst>
          </p:cNvPr>
          <p:cNvSpPr>
            <a:spLocks xmlns:a="http://schemas.openxmlformats.org/drawingml/2006/main" noGrp="1"/>
          </p:cNvSpPr>
          <p:nvPr/>
        </p:nvSpPr>
        <p:spPr>
          <a:xfrm xmlns:a="http://schemas.openxmlformats.org/drawingml/2006/main">
            <a:off x="4311682" y="1952625"/>
            <a:ext cx="685800" cy="685800"/>
          </a:xfrm>
          <a:prstGeom xmlns:a="http://schemas.openxmlformats.org/drawingml/2006/main" prst="ellipse">
            <a:avLst/>
          </a:prstGeom>
          <a:solidFill xmlns:a="http://schemas.openxmlformats.org/drawingml/2006/main">
            <a:srgbClr val="EAF5FB"/>
          </a:solidFill>
          <a:ln xmlns:a="http://schemas.openxmlformats.org/drawingml/2006/main" w="9525">
            <a:solidFill>
              <a:srgbClr val="6DCBF4"/>
            </a:solidFill>
            <a:prstDash val="solid"/>
          </a:ln>
        </p:spPr>
      </p:sp>
      <p:sp>
        <p:nvSpPr>
          <p:cNvPr id="9" name="">
            <a:extLst xmlns:a="http://schemas.openxmlformats.org/drawingml/2006/main">
              <a:ext uri="{FF2B5EF4-FFF2-40B4-BE49-F238E27FC236}">
                <a16:creationId xmlns:a16="http://schemas.microsoft.com/office/drawing/2014/main" id="{D5E619D0-5789-478F-A969-C84F32076345}"/>
              </a:ext>
            </a:extLst>
          </p:cNvPr>
          <p:cNvSpPr>
            <a:spLocks xmlns:a="http://schemas.openxmlformats.org/drawingml/2006/main" noGrp="1"/>
          </p:cNvSpPr>
          <p:nvPr/>
        </p:nvSpPr>
        <p:spPr>
          <a:xfrm xmlns:a="http://schemas.openxmlformats.org/drawingml/2006/main">
            <a:off x="4311682" y="2076450"/>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3D8DFF"/>
                </a:solidFill>
                <a:latin typeface="Arial"/>
                <a:ea typeface="Arial"/>
                <a:cs typeface="Arial"/>
              </a:defRPr>
            </a:pPr>
            <a:r>
              <a:rPr sz="2250" b="1">
                <a:solidFill>
                  <a:srgbClr val="3D8D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C8820B59-431A-4AAB-8024-26710E8EAE26}"/>
              </a:ext>
            </a:extLst>
          </p:cNvPr>
          <p:cNvSpPr>
            <a:spLocks xmlns:a="http://schemas.openxmlformats.org/drawingml/2006/main" noGrp="1"/>
          </p:cNvSpPr>
          <p:nvPr/>
        </p:nvSpPr>
        <p:spPr>
          <a:xfrm xmlns:a="http://schemas.openxmlformats.org/drawingml/2006/main">
            <a:off x="4311682" y="323850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Arial"/>
                <a:ea typeface="Arial"/>
                <a:cs typeface="Arial"/>
              </a:defRPr>
            </a:pPr>
            <a:r>
              <a:rPr sz="1875" b="1">
                <a:solidFill>
                  <a:srgbClr val="000000"/>
                </a:solidFill>
                <a:latin typeface="Arial"/>
                <a:ea typeface="Arial"/>
                <a:cs typeface="Arial"/>
              </a:rPr>
              <a:t>Select</a:t>
            </a:r>
          </a:p>
        </p:txBody>
      </p:sp>
      <p:sp>
        <p:nvSpPr>
          <p:cNvPr id="11" name="">
            <a:extLst xmlns:a="http://schemas.openxmlformats.org/drawingml/2006/main">
              <a:ext uri="{FF2B5EF4-FFF2-40B4-BE49-F238E27FC236}">
                <a16:creationId xmlns:a16="http://schemas.microsoft.com/office/drawing/2014/main" id="{83A3E9F6-053D-4911-8A54-D86EA6B5DFE1}"/>
              </a:ext>
            </a:extLst>
          </p:cNvPr>
          <p:cNvSpPr>
            <a:spLocks xmlns:a="http://schemas.openxmlformats.org/drawingml/2006/main" noGrp="1"/>
          </p:cNvSpPr>
          <p:nvPr/>
        </p:nvSpPr>
        <p:spPr>
          <a:xfrm xmlns:a="http://schemas.openxmlformats.org/drawingml/2006/main">
            <a:off x="4311682" y="3733800"/>
            <a:ext cx="31908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Tick one or more groups. A local manual run can cover only the sources needed at that moment.</a:t>
            </a:r>
          </a:p>
        </p:txBody>
      </p:sp>
      <p:sp>
        <p:nvSpPr>
          <p:cNvPr id="12" name="">
            <a:extLst xmlns:a="http://schemas.openxmlformats.org/drawingml/2006/main">
              <a:ext uri="{FF2B5EF4-FFF2-40B4-BE49-F238E27FC236}">
                <a16:creationId xmlns:a16="http://schemas.microsoft.com/office/drawing/2014/main" id="{546196E2-BC37-402C-90FF-577C5ADCA1CC}"/>
              </a:ext>
            </a:extLst>
          </p:cNvPr>
          <p:cNvSpPr>
            <a:spLocks xmlns:a="http://schemas.openxmlformats.org/drawingml/2006/main" noGrp="1"/>
          </p:cNvSpPr>
          <p:nvPr/>
        </p:nvSpPr>
        <p:spPr>
          <a:xfrm xmlns:a="http://schemas.openxmlformats.org/drawingml/2006/main">
            <a:off x="8229600" y="1952625"/>
            <a:ext cx="685800" cy="685800"/>
          </a:xfrm>
          <a:prstGeom xmlns:a="http://schemas.openxmlformats.org/drawingml/2006/main" prst="ellipse">
            <a:avLst/>
          </a:prstGeom>
          <a:solidFill xmlns:a="http://schemas.openxmlformats.org/drawingml/2006/main">
            <a:srgbClr val="EAF5FB"/>
          </a:solidFill>
          <a:ln xmlns:a="http://schemas.openxmlformats.org/drawingml/2006/main" w="9525">
            <a:solidFill>
              <a:srgbClr val="6DCBF4"/>
            </a:solidFill>
            <a:prstDash val="solid"/>
          </a:ln>
        </p:spPr>
      </p:sp>
      <p:sp>
        <p:nvSpPr>
          <p:cNvPr id="13" name="">
            <a:extLst xmlns:a="http://schemas.openxmlformats.org/drawingml/2006/main">
              <a:ext uri="{FF2B5EF4-FFF2-40B4-BE49-F238E27FC236}">
                <a16:creationId xmlns:a16="http://schemas.microsoft.com/office/drawing/2014/main" id="{4D2A8E9C-1195-4B5B-B206-00C764B113F6}"/>
              </a:ext>
            </a:extLst>
          </p:cNvPr>
          <p:cNvSpPr>
            <a:spLocks xmlns:a="http://schemas.openxmlformats.org/drawingml/2006/main" noGrp="1"/>
          </p:cNvSpPr>
          <p:nvPr/>
        </p:nvSpPr>
        <p:spPr>
          <a:xfrm xmlns:a="http://schemas.openxmlformats.org/drawingml/2006/main">
            <a:off x="8229600" y="2076450"/>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3D8DFF"/>
                </a:solidFill>
                <a:latin typeface="Arial"/>
                <a:ea typeface="Arial"/>
                <a:cs typeface="Arial"/>
              </a:defRPr>
            </a:pPr>
            <a:r>
              <a:rPr sz="2250" b="1">
                <a:solidFill>
                  <a:srgbClr val="3D8D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A7F9ADC1-5D1D-44D1-A0B8-9F95CBD3CF6A}"/>
              </a:ext>
            </a:extLst>
          </p:cNvPr>
          <p:cNvSpPr>
            <a:spLocks xmlns:a="http://schemas.openxmlformats.org/drawingml/2006/main" noGrp="1"/>
          </p:cNvSpPr>
          <p:nvPr/>
        </p:nvSpPr>
        <p:spPr>
          <a:xfrm xmlns:a="http://schemas.openxmlformats.org/drawingml/2006/main">
            <a:off x="8229600" y="323850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Arial"/>
                <a:ea typeface="Arial"/>
                <a:cs typeface="Arial"/>
              </a:defRPr>
            </a:pPr>
            <a:r>
              <a:rPr sz="1875" b="1">
                <a:solidFill>
                  <a:srgbClr val="000000"/>
                </a:solidFill>
                <a:latin typeface="Arial"/>
                <a:ea typeface="Arial"/>
                <a:cs typeface="Arial"/>
              </a:rPr>
              <a:t>Run</a:t>
            </a:r>
          </a:p>
        </p:txBody>
      </p:sp>
      <p:sp>
        <p:nvSpPr>
          <p:cNvPr id="15" name="">
            <a:extLst xmlns:a="http://schemas.openxmlformats.org/drawingml/2006/main">
              <a:ext uri="{FF2B5EF4-FFF2-40B4-BE49-F238E27FC236}">
                <a16:creationId xmlns:a16="http://schemas.microsoft.com/office/drawing/2014/main" id="{517CC574-4941-41DE-8218-C744DA5961E6}"/>
              </a:ext>
            </a:extLst>
          </p:cNvPr>
          <p:cNvSpPr>
            <a:spLocks xmlns:a="http://schemas.openxmlformats.org/drawingml/2006/main" noGrp="1"/>
          </p:cNvSpPr>
          <p:nvPr/>
        </p:nvSpPr>
        <p:spPr>
          <a:xfrm xmlns:a="http://schemas.openxmlformats.org/drawingml/2006/main">
            <a:off x="8229600" y="3733800"/>
            <a:ext cx="31908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Choose ‘save’ or ‘email’, confirm the run, then review the output and timestamped TXT report.</a:t>
            </a:r>
          </a:p>
        </p:txBody>
      </p:sp>
    </p:spTree>
    <p:extLst>
      <p:ext uri="{BB962C8B-B14F-4D97-AF65-F5344CB8AC3E}">
        <p14:creationId xmlns:p14="http://schemas.microsoft.com/office/powerpoint/2010/main" val="16644837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C8FFBE-F915-401E-A770-4E9083667D2C}"/>
              </a:ext>
            </a:extLst>
          </p:cNvPr>
          <p:cNvSpPr>
            <a:spLocks xmlns:a="http://schemas.openxmlformats.org/drawingml/2006/main" noGrp="1"/>
          </p:cNvSpPr>
          <p:nvPr/>
        </p:nvSpPr>
        <p:spPr>
          <a:xfrm xmlns:a="http://schemas.openxmlformats.org/drawingml/2006/main">
            <a:off x="393668" y="39224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CURRENT STATE</a:t>
            </a:r>
          </a:p>
        </p:txBody>
      </p:sp>
      <p:sp>
        <p:nvSpPr>
          <p:cNvPr id="2" name="">
            <a:extLst xmlns:a="http://schemas.openxmlformats.org/drawingml/2006/main">
              <a:ext uri="{FF2B5EF4-FFF2-40B4-BE49-F238E27FC236}">
                <a16:creationId xmlns:a16="http://schemas.microsoft.com/office/drawing/2014/main" id="{BFFFBC91-8B14-4B42-A61F-8C72CE40FD44}"/>
              </a:ext>
            </a:extLst>
          </p:cNvPr>
          <p:cNvSpPr>
            <a:spLocks xmlns:a="http://schemas.openxmlformats.org/drawingml/2006/main" noGrp="1"/>
          </p:cNvSpPr>
          <p:nvPr/>
        </p:nvSpPr>
        <p:spPr>
          <a:xfrm xmlns:a="http://schemas.openxmlformats.org/drawingml/2006/main">
            <a:off x="393668" y="2667000"/>
            <a:ext cx="723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250" b="0">
                <a:solidFill>
                  <a:srgbClr val="000000"/>
                </a:solidFill>
                <a:latin typeface="Arial"/>
                <a:ea typeface="Arial"/>
                <a:cs typeface="Arial"/>
              </a:defRPr>
            </a:pPr>
            <a:r>
              <a:rPr sz="5250" b="0">
                <a:solidFill>
                  <a:srgbClr val="000000"/>
                </a:solidFill>
                <a:latin typeface="Arial"/>
                <a:ea typeface="Arial"/>
                <a:cs typeface="Arial"/>
              </a:rPr>
              <a:t>Ready for a</a:t>
            </a:r>
          </a:p>
        </p:txBody>
      </p:sp>
      <p:sp>
        <p:nvSpPr>
          <p:cNvPr id="3" name="">
            <a:extLst xmlns:a="http://schemas.openxmlformats.org/drawingml/2006/main">
              <a:ext uri="{FF2B5EF4-FFF2-40B4-BE49-F238E27FC236}">
                <a16:creationId xmlns:a16="http://schemas.microsoft.com/office/drawing/2014/main" id="{83C0E234-F9E1-4560-B177-EA24E73EE62A}"/>
              </a:ext>
            </a:extLst>
          </p:cNvPr>
          <p:cNvSpPr>
            <a:spLocks xmlns:a="http://schemas.openxmlformats.org/drawingml/2006/main" noGrp="1"/>
          </p:cNvSpPr>
          <p:nvPr/>
        </p:nvSpPr>
        <p:spPr>
          <a:xfrm xmlns:a="http://schemas.openxmlformats.org/drawingml/2006/main">
            <a:off x="393668" y="352425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250" b="0">
                <a:solidFill>
                  <a:srgbClr val="000000"/>
                </a:solidFill>
                <a:latin typeface="Arial"/>
                <a:ea typeface="Arial"/>
                <a:cs typeface="Arial"/>
              </a:defRPr>
            </a:pPr>
            <a:r>
              <a:rPr sz="5250" b="0">
                <a:solidFill>
                  <a:srgbClr val="000000"/>
                </a:solidFill>
                <a:latin typeface="Arial"/>
                <a:ea typeface="Arial"/>
                <a:cs typeface="Arial"/>
              </a:rPr>
              <a:t>controlled pilot</a:t>
            </a:r>
          </a:p>
        </p:txBody>
      </p:sp>
      <p:sp>
        <p:nvSpPr>
          <p:cNvPr id="4" name="">
            <a:extLst xmlns:a="http://schemas.openxmlformats.org/drawingml/2006/main">
              <a:ext uri="{FF2B5EF4-FFF2-40B4-BE49-F238E27FC236}">
                <a16:creationId xmlns:a16="http://schemas.microsoft.com/office/drawing/2014/main" id="{2A54047A-165E-42D8-B618-439F4F3A4C25}"/>
              </a:ext>
            </a:extLst>
          </p:cNvPr>
          <p:cNvSpPr>
            <a:spLocks xmlns:a="http://schemas.openxmlformats.org/drawingml/2006/main" noGrp="1"/>
          </p:cNvSpPr>
          <p:nvPr/>
        </p:nvSpPr>
        <p:spPr>
          <a:xfrm xmlns:a="http://schemas.openxmlformats.org/drawingml/2006/main">
            <a:off x="393668" y="495300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E6673"/>
                </a:solidFill>
                <a:latin typeface="Arial"/>
                <a:ea typeface="Arial"/>
                <a:cs typeface="Arial"/>
              </a:defRPr>
            </a:pPr>
            <a:r>
              <a:rPr sz="1725" b="0">
                <a:solidFill>
                  <a:srgbClr val="5E6673"/>
                </a:solidFill>
                <a:latin typeface="Arial"/>
                <a:ea typeface="Arial"/>
                <a:cs typeface="Arial"/>
              </a:rPr>
              <a:t>Local monitoring and reports are working</a:t>
            </a:r>
          </a:p>
          <a:p xmlns:a="http://schemas.openxmlformats.org/drawingml/2006/main">
            <a:pPr algn="l">
              <a:defRPr sz="1725" b="0">
                <a:solidFill>
                  <a:srgbClr val="5E6673"/>
                </a:solidFill>
                <a:latin typeface="Arial"/>
                <a:ea typeface="Arial"/>
                <a:cs typeface="Arial"/>
              </a:defRPr>
            </a:pPr>
            <a:r>
              <a:rPr sz="1725" b="0">
                <a:solidFill>
                  <a:srgbClr val="5E6673"/>
                </a:solidFill>
                <a:latin typeface="Arial"/>
                <a:ea typeface="Arial"/>
                <a:cs typeface="Arial"/>
              </a:rPr>
              <a:t>Outlook permissions must be confirmed on the target laptop</a:t>
            </a:r>
          </a:p>
          <a:p xmlns:a="http://schemas.openxmlformats.org/drawingml/2006/main">
            <a:pPr algn="l">
              <a:defRPr sz="1725" b="0">
                <a:solidFill>
                  <a:srgbClr val="5E6673"/>
                </a:solidFill>
                <a:latin typeface="Arial"/>
                <a:ea typeface="Arial"/>
                <a:cs typeface="Arial"/>
              </a:defRPr>
            </a:pPr>
            <a:r>
              <a:rPr sz="1725" b="0">
                <a:solidFill>
                  <a:srgbClr val="5E6673"/>
                </a:solidFill>
                <a:latin typeface="Arial"/>
                <a:ea typeface="Arial"/>
                <a:cs typeface="Arial"/>
              </a:rPr>
              <a:t>Then configure the final Task Scheduler day and time</a:t>
            </a:r>
          </a:p>
        </p:txBody>
      </p:sp>
      <p:sp>
        <p:nvSpPr>
          <p:cNvPr id="5" name="">
            <a:extLst xmlns:a="http://schemas.openxmlformats.org/drawingml/2006/main">
              <a:ext uri="{FF2B5EF4-FFF2-40B4-BE49-F238E27FC236}">
                <a16:creationId xmlns:a16="http://schemas.microsoft.com/office/drawing/2014/main" id="{9751A5DB-D024-4AE1-889C-6DADECC109FA}"/>
              </a:ext>
            </a:extLst>
          </p:cNvPr>
          <p:cNvSpPr>
            <a:spLocks xmlns:a="http://schemas.openxmlformats.org/drawingml/2006/main" noGrp="1"/>
          </p:cNvSpPr>
          <p:nvPr/>
        </p:nvSpPr>
        <p:spPr>
          <a:xfrm xmlns:a="http://schemas.openxmlformats.org/drawingml/2006/main">
            <a:off x="9696450" y="390525"/>
            <a:ext cx="2095500" cy="56007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BAA318-B622-4861-998E-5CD259689FEB}"/>
              </a:ext>
            </a:extLst>
          </p:cNvPr>
          <p:cNvSpPr>
            <a:spLocks xmlns:a="http://schemas.openxmlformats.org/drawingml/2006/main" noGrp="1"/>
          </p:cNvSpPr>
          <p:nvPr/>
        </p:nvSpPr>
        <p:spPr>
          <a:xfrm xmlns:a="http://schemas.openxmlformats.org/drawingml/2006/main">
            <a:off x="10267950" y="1238250"/>
            <a:ext cx="952500" cy="9525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54364D-B7EC-4BCA-9E0D-71E52113815D}"/>
              </a:ext>
            </a:extLst>
          </p:cNvPr>
          <p:cNvSpPr>
            <a:spLocks xmlns:a="http://schemas.openxmlformats.org/drawingml/2006/main" noGrp="1"/>
          </p:cNvSpPr>
          <p:nvPr/>
        </p:nvSpPr>
        <p:spPr>
          <a:xfrm xmlns:a="http://schemas.openxmlformats.org/drawingml/2006/main">
            <a:off x="10410825" y="13811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600" b="1">
                <a:solidFill>
                  <a:srgbClr val="FFFFFF"/>
                </a:solidFill>
                <a:latin typeface="Arial"/>
                <a:ea typeface="Arial"/>
                <a:cs typeface="Arial"/>
              </a:defRPr>
            </a:pPr>
            <a:r>
              <a:rPr sz="3600" b="1">
                <a:solidFill>
                  <a:srgbClr val="FFFFFF"/>
                </a:solidFill>
                <a:latin typeface="Arial"/>
                <a:ea typeface="Arial"/>
                <a:cs typeface="Arial"/>
              </a:rPr>
              <a:t>✓</a:t>
            </a:r>
          </a:p>
        </p:txBody>
      </p:sp>
    </p:spTree>
    <p:extLst>
      <p:ext uri="{BB962C8B-B14F-4D97-AF65-F5344CB8AC3E}">
        <p14:creationId xmlns:p14="http://schemas.microsoft.com/office/powerpoint/2010/main" val="19282087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2026-08-03T01:27:59.2040000Z</dcterms:created>
  <dcterms:modified xsi:type="dcterms:W3CDTF">2026-08-03T01:27:59.2040000Z</dcterms:modified>
</coreProperties>
</file>